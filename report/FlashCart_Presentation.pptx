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33794c-1216-afba-65f7-e99ed0470bad}">
          <p14:sldIdLst>
            <p14:sldId id="256"/>
            <p14:sldId id="257"/>
          </p14:sldIdLst>
        </p14:section>
        <p14:section name="Product" id="{359d9d94-4d7f-40f5-72e2-f5deec6dbdef}">
          <p14:sldIdLst>
            <p14:sldId id="258"/>
          </p14:sldIdLst>
        </p14:section>
        <p14:section name="Engineering" id="{5dc91c5e-dc48-5e21-8200-e9f60a13cddf}">
          <p14:sldIdLst>
            <p14:sldId id="259"/>
            <p14:sldId id="260"/>
          </p14:sldIdLst>
        </p14:section>
        <p14:section name="Results" id="{fa44a988-1f0b-524d-1735-d0b750bc62f6}">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FlashCart is a smart mall billing system. Shoppers scan products in any showroom with their phone, everything goes into one bag, and they pay once and get a single GST invoice. This deck covers the problem, what we built, how it is built, how we designed and delivered it, and our results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shopper who buys a shirt, earbuds and a coffee stands in three queues, pays three times and leaves with three GST bills. Cash counters also make change mistakes and struggle to reconcile the drawer. FlashCart replaces all of that with four steps: sign in with a phone number, scan barcodes anywhere in the mall, review one bag with the GST split by slab, and pay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FlashCart has two web apps. The customer app scans product barcodes with the phone camera, keeps one bag across five showrooms, and takes payment by UPI or card through Razorpay, or issues a cash bill. The cash desk is deliberately simple: find the bill, enter the cash received, and it shows exactly how much change to return, then reconciles the drawer at the end of the day. We tested it on real product tags, and the bill matches the printed MRP to the rupee.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it is three tiers. Two React single-page apps run in the browser and talk JSON over HTTPS to one Express API, which owns every business rule. Data lives in SQLite, and online payments go through Razorpay. Three engineering choices matter most: all money math is done in integer paise, the server prices the bag itself and verifies Razorpay's HMAC signature before issuing an invoice, and sign-in uses signed tokens with scrypt-hashed cashier passwords.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modelled the system with four UML views: a use case diagram for the customer, cashier and Razorpay; a sequence diagram for the online payment and signature check; an activity diagram for the checkout flow; and a class diagram for the domain model. We delivered in three iterations: the MVP first, then accounts, the SQLite database and the cash desk, and finally real barcode scanning with MRP-accurate pricing. Each demo's feedback shaped the next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17 automated API tests pass, server operations finish in about a millisecond, a barcode frame decodes in about 30 milliseconds, and all three real product tags we tried scanned correctly with bills matching their MRP. Next, we want to add inventory management for each showroom, then build a hardware smart cart with a mounted scanner and a load cell that checks the cart's weight against the scanned items. We also plan SMS OTP sign-in, Razorpay webhooks and refunds, and a move to PostgreSQL in the cloud for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303520" cy="868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240280"/>
            <a:ext cx="5303520" cy="45720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54880"/>
            <a:ext cx="4572000" cy="256032"/>
          </a:xfrm>
          <a:prstGeom prst="rect">
            <a:avLst/>
          </a:prstGeom>
          <a:noFill/>
          <a:ln/>
        </p:spPr>
        <p:txBody>
          <a:bodyPr wrap="square" lIns="0" tIns="0" rIns="0" bIns="0" rtlCol="0" anchor="ctr"/>
          <a:lstStyle/>
          <a:p>
            <a:pPr indent="0" marL="0">
              <a:buNone/>
            </a:pPr>
            <a:r>
              <a:rPr lang="en-US" sz="1000" dirty="0">
                <a:solidFill>
                  <a:schemeClr val="accent5"/>
                </a:solidFill>
              </a:rPr>
              <a:t>FlashCart  ·  UCS503 Software Engineering</a:t>
            </a:r>
            <a:endParaRPr lang="en-US" sz="10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58368"/>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3.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tile"/>
          <p:cNvSpPr/>
          <p:nvPr/>
        </p:nvSpPr>
        <p:spPr>
          <a:xfrm>
            <a:off x="548640" y="685800"/>
            <a:ext cx="566928" cy="566928"/>
          </a:xfrm>
          <a:prstGeom prst="roundRect">
            <a:avLst>
              <a:gd name="adj" fmla="val 24000"/>
            </a:avLst>
          </a:prstGeom>
          <a:solidFill>
            <a:schemeClr val="accent1"/>
          </a:solidFill>
          <a:ln w="6350">
            <a:solidFill>
              <a:schemeClr val="accent1"/>
            </a:solidFill>
            <a:prstDash val="solid"/>
          </a:ln>
        </p:spPr>
      </p:sp>
      <p:pic>
        <p:nvPicPr>
          <p:cNvPr id="3" name="Brand icon" descr="preencoded.png">    </p:cNvPr>
          <p:cNvPicPr>
            <a:picLocks noChangeAspect="1"/>
          </p:cNvPicPr>
          <p:nvPr/>
        </p:nvPicPr>
        <p:blipFill>
          <a:blip r:embed="rId1"/>
          <a:stretch>
            <a:fillRect/>
          </a:stretch>
        </p:blipFill>
        <p:spPr>
          <a:xfrm>
            <a:off x="684703" y="821863"/>
            <a:ext cx="294803" cy="294803"/>
          </a:xfrm>
          <a:prstGeom prst="rect">
            <a:avLst/>
          </a:prstGeom>
        </p:spPr>
      </p:pic>
      <p:sp>
        <p:nvSpPr>
          <p:cNvPr id="4" name="Text 0"/>
          <p:cNvSpPr/>
          <p:nvPr>
            <p:ph idx="100" type="title" hasCustomPrompt="1"/>
          </p:nvPr>
        </p:nvSpPr>
        <p:spPr>
          <a:xfrm>
            <a:off x="548640" y="1371600"/>
            <a:ext cx="5303520" cy="868680"/>
          </a:xfrm>
          <a:prstGeom prst="rect">
            <a:avLst/>
          </a:prstGeom>
          <a:noFill/>
          <a:ln/>
        </p:spPr>
        <p:txBody>
          <a:bodyPr wrap="square" lIns="0" tIns="0" rIns="0" bIns="0" rtlCol="0" anchor="ctr"/>
          <a:lstStyle/>
          <a:p>
            <a:pPr algn="l" indent="0" marL="0">
              <a:buNone/>
            </a:pPr>
            <a:r>
              <a:rPr lang="en-US" sz="5400" b="1" dirty="0">
                <a:solidFill>
                  <a:schemeClr val="bg1"/>
                </a:solidFill>
              </a:rPr>
              <a:t>FlashCart</a:t>
            </a:r>
            <a:endParaRPr lang="en-US" sz="5400" dirty="0"/>
          </a:p>
        </p:txBody>
      </p:sp>
      <p:sp>
        <p:nvSpPr>
          <p:cNvPr id="5" name="Text 0"/>
          <p:cNvSpPr/>
          <p:nvPr>
            <p:ph idx="101" type="body" hasCustomPrompt="1"/>
          </p:nvPr>
        </p:nvSpPr>
        <p:spPr>
          <a:xfrm>
            <a:off x="548640" y="2240280"/>
            <a:ext cx="5303520" cy="457200"/>
          </a:xfrm>
          <a:prstGeom prst="rect">
            <a:avLst/>
          </a:prstGeom>
          <a:noFill/>
          <a:ln/>
        </p:spPr>
        <p:txBody>
          <a:bodyPr wrap="square" lIns="0" tIns="0" rIns="0" bIns="0" rtlCol="0" anchor="t"/>
          <a:lstStyle/>
          <a:p>
            <a:pPr algn="l" indent="0" marL="0">
              <a:buNone/>
            </a:pPr>
            <a:r>
              <a:rPr lang="en-US" sz="2200" dirty="0">
                <a:solidFill>
                  <a:schemeClr val="bg2"/>
                </a:solidFill>
              </a:rPr>
              <a:t>Smart mall billing &amp; unified checkout</a:t>
            </a:r>
            <a:endParaRPr lang="en-US" sz="2200" dirty="0"/>
          </a:p>
        </p:txBody>
      </p:sp>
      <p:sp>
        <p:nvSpPr>
          <p:cNvPr id="6" name="Tagline"/>
          <p:cNvSpPr txBox="1"/>
          <p:nvPr/>
        </p:nvSpPr>
        <p:spPr>
          <a:xfrm>
            <a:off x="548640" y="2743200"/>
            <a:ext cx="5303520" cy="411480"/>
          </a:xfrm>
          <a:prstGeom prst="rect">
            <a:avLst/>
          </a:prstGeom>
          <a:noFill/>
          <a:ln/>
        </p:spPr>
        <p:txBody>
          <a:bodyPr wrap="square" lIns="0" tIns="0" rIns="0" bIns="0" rtlCol="0" anchor="ctr"/>
          <a:lstStyle/>
          <a:p>
            <a:pPr indent="0" marL="0">
              <a:buNone/>
            </a:pPr>
            <a:r>
              <a:rPr lang="en-US" sz="1800" i="1" dirty="0">
                <a:solidFill>
                  <a:schemeClr val="accent1"/>
                </a:solidFill>
              </a:rPr>
              <a:t>One bag. Every store. Zero queues.</a:t>
            </a:r>
            <a:endParaRPr lang="en-US" sz="1800" dirty="0"/>
          </a:p>
        </p:txBody>
      </p:sp>
      <p:sp>
        <p:nvSpPr>
          <p:cNvPr id="7" name="Team and course"/>
          <p:cNvSpPr txBox="1"/>
          <p:nvPr/>
        </p:nvSpPr>
        <p:spPr>
          <a:xfrm>
            <a:off x="548640" y="3611880"/>
            <a:ext cx="5303520" cy="822960"/>
          </a:xfrm>
          <a:prstGeom prst="rect">
            <a:avLst/>
          </a:prstGeom>
          <a:noFill/>
          <a:ln/>
        </p:spPr>
        <p:txBody>
          <a:bodyPr wrap="square" lIns="0" tIns="0" rIns="0" bIns="0" rtlCol="0" anchor="t"/>
          <a:lstStyle/>
          <a:p>
            <a:pPr indent="0" marL="0">
              <a:spcAft>
                <a:spcPts val="300"/>
              </a:spcAft>
              <a:buNone/>
            </a:pPr>
            <a:r>
              <a:rPr lang="en-US" sz="1400" b="1" dirty="0">
                <a:solidFill>
                  <a:schemeClr val="bg1"/>
                </a:solidFill>
              </a:rPr>
              <a:t>Pranay Nagpal  ·  Suryansh Jain  ·  Srijan Tanwar</a:t>
            </a:r>
            <a:endParaRPr lang="en-US" sz="1400" dirty="0"/>
          </a:p>
          <a:p>
            <a:pPr indent="0" marL="0">
              <a:spcAft>
                <a:spcPts val="300"/>
              </a:spcAft>
              <a:buNone/>
            </a:pPr>
            <a:r>
              <a:rPr lang="en-US" sz="1200" dirty="0">
                <a:solidFill>
                  <a:schemeClr val="bg2"/>
                </a:solidFill>
              </a:rPr>
              <a:t>UCS503 Software Engineering  ·  Submitted to Jhonsy Bansal</a:t>
            </a:r>
            <a:endParaRPr lang="en-US" sz="1400" dirty="0"/>
          </a:p>
          <a:p>
            <a:pPr indent="0" marL="0">
              <a:spcAft>
                <a:spcPts val="300"/>
              </a:spcAft>
              <a:buNone/>
            </a:pPr>
            <a:r>
              <a:rPr lang="en-US" sz="1200" dirty="0">
                <a:solidFill>
                  <a:schemeClr val="bg2"/>
                </a:solidFill>
              </a:rPr>
              <a:t>Thapar Institute of Engineering &amp; Technology, Patiala</a:t>
            </a:r>
            <a:endParaRPr lang="en-US" sz="1400" dirty="0"/>
          </a:p>
        </p:txBody>
      </p:sp>
      <p:sp>
        <p:nvSpPr>
          <p:cNvPr id="8" name="Phone body"/>
          <p:cNvSpPr/>
          <p:nvPr/>
        </p:nvSpPr>
        <p:spPr>
          <a:xfrm>
            <a:off x="6172200" y="411480"/>
            <a:ext cx="2377440" cy="4297680"/>
          </a:xfrm>
          <a:prstGeom prst="roundRect">
            <a:avLst>
              <a:gd name="adj" fmla="val 12308"/>
            </a:avLst>
          </a:prstGeom>
          <a:solidFill>
            <a:schemeClr val="tx2"/>
          </a:solidFill>
          <a:ln w="9525">
            <a:solidFill>
              <a:schemeClr val="accent5"/>
            </a:solidFill>
            <a:prstDash val="solid"/>
          </a:ln>
        </p:spPr>
      </p:sp>
      <p:sp>
        <p:nvSpPr>
          <p:cNvPr id="9" name="Phone screen"/>
          <p:cNvSpPr/>
          <p:nvPr/>
        </p:nvSpPr>
        <p:spPr>
          <a:xfrm>
            <a:off x="6281928" y="521208"/>
            <a:ext cx="2157984" cy="4078224"/>
          </a:xfrm>
          <a:prstGeom prst="roundRect">
            <a:avLst>
              <a:gd name="adj" fmla="val 10169"/>
            </a:avLst>
          </a:prstGeom>
          <a:solidFill>
            <a:schemeClr val="bg1"/>
          </a:solidFill>
          <a:ln w="6350">
            <a:solidFill>
              <a:schemeClr val="bg1"/>
            </a:solidFill>
            <a:prstDash val="solid"/>
          </a:ln>
        </p:spPr>
      </p:sp>
      <p:sp>
        <p:nvSpPr>
          <p:cNvPr id="10" name="Mock label"/>
          <p:cNvSpPr txBox="1"/>
          <p:nvPr/>
        </p:nvSpPr>
        <p:spPr>
          <a:xfrm>
            <a:off x="6428232" y="685800"/>
            <a:ext cx="1865376" cy="201168"/>
          </a:xfrm>
          <a:prstGeom prst="rect">
            <a:avLst/>
          </a:prstGeom>
          <a:noFill/>
          <a:ln/>
        </p:spPr>
        <p:txBody>
          <a:bodyPr wrap="square" lIns="0" tIns="0" rIns="0" bIns="0" rtlCol="0" anchor="ctr"/>
          <a:lstStyle/>
          <a:p>
            <a:pPr indent="0" marL="0">
              <a:buNone/>
            </a:pPr>
            <a:r>
              <a:rPr lang="en-US" sz="1000" b="1" spc="200" kern="0" dirty="0">
                <a:solidFill>
                  <a:schemeClr val="accent5"/>
                </a:solidFill>
              </a:rPr>
              <a:t>YOUR BAG</a:t>
            </a:r>
            <a:endParaRPr lang="en-US" sz="1000" dirty="0"/>
          </a:p>
        </p:txBody>
      </p:sp>
      <p:sp>
        <p:nvSpPr>
          <p:cNvPr id="11" name="Mock count"/>
          <p:cNvSpPr txBox="1"/>
          <p:nvPr/>
        </p:nvSpPr>
        <p:spPr>
          <a:xfrm>
            <a:off x="6428232" y="896112"/>
            <a:ext cx="1865376" cy="237744"/>
          </a:xfrm>
          <a:prstGeom prst="rect">
            <a:avLst/>
          </a:prstGeom>
          <a:noFill/>
          <a:ln/>
        </p:spPr>
        <p:txBody>
          <a:bodyPr wrap="square" lIns="0" tIns="0" rIns="0" bIns="0" rtlCol="0" anchor="ctr"/>
          <a:lstStyle/>
          <a:p>
            <a:pPr indent="0" marL="0">
              <a:buNone/>
            </a:pPr>
            <a:r>
              <a:rPr lang="en-US" sz="1200" b="1" dirty="0">
                <a:solidFill>
                  <a:schemeClr val="tx1"/>
                </a:solidFill>
              </a:rPr>
              <a:t>5 items · 3 stores</a:t>
            </a:r>
            <a:endParaRPr lang="en-US" sz="1200" dirty="0"/>
          </a:p>
        </p:txBody>
      </p:sp>
      <p:sp>
        <p:nvSpPr>
          <p:cNvPr id="12" name="Mock total"/>
          <p:cNvSpPr txBox="1"/>
          <p:nvPr/>
        </p:nvSpPr>
        <p:spPr>
          <a:xfrm>
            <a:off x="6428232" y="1143000"/>
            <a:ext cx="1865376" cy="457200"/>
          </a:xfrm>
          <a:prstGeom prst="rect">
            <a:avLst/>
          </a:prstGeom>
          <a:noFill/>
          <a:ln/>
        </p:spPr>
        <p:txBody>
          <a:bodyPr wrap="square" lIns="0" tIns="0" rIns="0" bIns="0" rtlCol="0" anchor="ctr"/>
          <a:lstStyle/>
          <a:p>
            <a:pPr indent="0" marL="0">
              <a:buNone/>
            </a:pPr>
            <a:r>
              <a:rPr lang="en-US" sz="2600" b="1" dirty="0">
                <a:solidFill>
                  <a:schemeClr val="tx1"/>
                </a:solidFill>
              </a:rPr>
              <a:t>₹4,414</a:t>
            </a:r>
            <a:endParaRPr lang="en-US" sz="2600" dirty="0"/>
          </a:p>
        </p:txBody>
      </p:sp>
      <p:sp>
        <p:nvSpPr>
          <p:cNvPr id="13" name="Mock row Fashion Zone"/>
          <p:cNvSpPr/>
          <p:nvPr/>
        </p:nvSpPr>
        <p:spPr>
          <a:xfrm>
            <a:off x="6428232" y="1737360"/>
            <a:ext cx="1865376" cy="420624"/>
          </a:xfrm>
          <a:prstGeom prst="roundRect">
            <a:avLst>
              <a:gd name="adj" fmla="val 26087"/>
            </a:avLst>
          </a:prstGeom>
          <a:solidFill>
            <a:schemeClr val="bg2"/>
          </a:solidFill>
          <a:ln w="6350">
            <a:solidFill>
              <a:schemeClr val="bg2"/>
            </a:solidFill>
            <a:prstDash val="solid"/>
          </a:ln>
        </p:spPr>
      </p:sp>
      <p:sp>
        <p:nvSpPr>
          <p:cNvPr id="14" name="Mock Fashion Zone tile"/>
          <p:cNvSpPr/>
          <p:nvPr/>
        </p:nvSpPr>
        <p:spPr>
          <a:xfrm>
            <a:off x="6501384" y="1801368"/>
            <a:ext cx="292608" cy="292608"/>
          </a:xfrm>
          <a:prstGeom prst="roundRect">
            <a:avLst>
              <a:gd name="adj" fmla="val 24000"/>
            </a:avLst>
          </a:prstGeom>
          <a:solidFill>
            <a:schemeClr val="accent4"/>
          </a:solidFill>
          <a:ln w="6350">
            <a:solidFill>
              <a:schemeClr val="accent4"/>
            </a:solidFill>
            <a:prstDash val="solid"/>
          </a:ln>
        </p:spPr>
      </p:sp>
      <p:pic>
        <p:nvPicPr>
          <p:cNvPr id="15" name="Mock Fashion Zone icon" descr="preencoded.png">    </p:cNvPr>
          <p:cNvPicPr>
            <a:picLocks noChangeAspect="1"/>
          </p:cNvPicPr>
          <p:nvPr/>
        </p:nvPicPr>
        <p:blipFill>
          <a:blip r:embed="rId2"/>
          <a:stretch>
            <a:fillRect/>
          </a:stretch>
        </p:blipFill>
        <p:spPr>
          <a:xfrm>
            <a:off x="6571610" y="1871594"/>
            <a:ext cx="152156" cy="152156"/>
          </a:xfrm>
          <a:prstGeom prst="rect">
            <a:avLst/>
          </a:prstGeom>
        </p:spPr>
      </p:pic>
      <p:sp>
        <p:nvSpPr>
          <p:cNvPr id="16" name="Mock Fashion Zone name"/>
          <p:cNvSpPr txBox="1"/>
          <p:nvPr/>
        </p:nvSpPr>
        <p:spPr>
          <a:xfrm>
            <a:off x="6867144" y="1737360"/>
            <a:ext cx="914400" cy="420624"/>
          </a:xfrm>
          <a:prstGeom prst="rect">
            <a:avLst/>
          </a:prstGeom>
          <a:noFill/>
          <a:ln/>
        </p:spPr>
        <p:txBody>
          <a:bodyPr wrap="square" lIns="0" tIns="0" rIns="0" bIns="0" rtlCol="0" anchor="ctr"/>
          <a:lstStyle/>
          <a:p>
            <a:pPr indent="0" marL="0">
              <a:buNone/>
            </a:pPr>
            <a:r>
              <a:rPr lang="en-US" sz="1100" b="1" dirty="0">
                <a:solidFill>
                  <a:schemeClr val="tx1"/>
                </a:solidFill>
              </a:rPr>
              <a:t>Fashion Zone</a:t>
            </a:r>
            <a:endParaRPr lang="en-US" sz="1100" dirty="0"/>
          </a:p>
        </p:txBody>
      </p:sp>
      <p:sp>
        <p:nvSpPr>
          <p:cNvPr id="17" name="Mock Fashion Zone amount"/>
          <p:cNvSpPr txBox="1"/>
          <p:nvPr/>
        </p:nvSpPr>
        <p:spPr>
          <a:xfrm>
            <a:off x="7708392" y="1737360"/>
            <a:ext cx="512064" cy="420624"/>
          </a:xfrm>
          <a:prstGeom prst="rect">
            <a:avLst/>
          </a:prstGeom>
          <a:noFill/>
          <a:ln/>
        </p:spPr>
        <p:txBody>
          <a:bodyPr wrap="square" lIns="0" tIns="0" rIns="0" bIns="0" rtlCol="0" anchor="ctr"/>
          <a:lstStyle/>
          <a:p>
            <a:pPr algn="r" indent="0" marL="0">
              <a:buNone/>
            </a:pPr>
            <a:r>
              <a:rPr lang="en-US" sz="1100" b="1" dirty="0">
                <a:solidFill>
                  <a:schemeClr val="tx1"/>
                </a:solidFill>
              </a:rPr>
              <a:t>₹2,006</a:t>
            </a:r>
            <a:endParaRPr lang="en-US" sz="1100" dirty="0"/>
          </a:p>
        </p:txBody>
      </p:sp>
      <p:sp>
        <p:nvSpPr>
          <p:cNvPr id="18" name="Mock row Tech Store"/>
          <p:cNvSpPr/>
          <p:nvPr/>
        </p:nvSpPr>
        <p:spPr>
          <a:xfrm>
            <a:off x="6428232" y="2249424"/>
            <a:ext cx="1865376" cy="420624"/>
          </a:xfrm>
          <a:prstGeom prst="roundRect">
            <a:avLst>
              <a:gd name="adj" fmla="val 26087"/>
            </a:avLst>
          </a:prstGeom>
          <a:solidFill>
            <a:schemeClr val="bg2"/>
          </a:solidFill>
          <a:ln w="6350">
            <a:solidFill>
              <a:schemeClr val="bg2"/>
            </a:solidFill>
            <a:prstDash val="solid"/>
          </a:ln>
        </p:spPr>
      </p:sp>
      <p:sp>
        <p:nvSpPr>
          <p:cNvPr id="19" name="Mock Tech Store tile"/>
          <p:cNvSpPr/>
          <p:nvPr/>
        </p:nvSpPr>
        <p:spPr>
          <a:xfrm>
            <a:off x="6501384" y="2313432"/>
            <a:ext cx="292608" cy="292608"/>
          </a:xfrm>
          <a:prstGeom prst="roundRect">
            <a:avLst>
              <a:gd name="adj" fmla="val 24000"/>
            </a:avLst>
          </a:prstGeom>
          <a:solidFill>
            <a:schemeClr val="accent6"/>
          </a:solidFill>
          <a:ln w="6350">
            <a:solidFill>
              <a:schemeClr val="accent6"/>
            </a:solidFill>
            <a:prstDash val="solid"/>
          </a:ln>
        </p:spPr>
      </p:sp>
      <p:pic>
        <p:nvPicPr>
          <p:cNvPr id="20" name="Mock Tech Store icon" descr="preencoded.png">    </p:cNvPr>
          <p:cNvPicPr>
            <a:picLocks noChangeAspect="1"/>
          </p:cNvPicPr>
          <p:nvPr/>
        </p:nvPicPr>
        <p:blipFill>
          <a:blip r:embed="rId3"/>
          <a:stretch>
            <a:fillRect/>
          </a:stretch>
        </p:blipFill>
        <p:spPr>
          <a:xfrm>
            <a:off x="6571610" y="2383658"/>
            <a:ext cx="152156" cy="152156"/>
          </a:xfrm>
          <a:prstGeom prst="rect">
            <a:avLst/>
          </a:prstGeom>
        </p:spPr>
      </p:pic>
      <p:sp>
        <p:nvSpPr>
          <p:cNvPr id="21" name="Mock Tech Store name"/>
          <p:cNvSpPr txBox="1"/>
          <p:nvPr/>
        </p:nvSpPr>
        <p:spPr>
          <a:xfrm>
            <a:off x="6867144" y="2249424"/>
            <a:ext cx="914400" cy="420624"/>
          </a:xfrm>
          <a:prstGeom prst="rect">
            <a:avLst/>
          </a:prstGeom>
          <a:noFill/>
          <a:ln/>
        </p:spPr>
        <p:txBody>
          <a:bodyPr wrap="square" lIns="0" tIns="0" rIns="0" bIns="0" rtlCol="0" anchor="ctr"/>
          <a:lstStyle/>
          <a:p>
            <a:pPr indent="0" marL="0">
              <a:buNone/>
            </a:pPr>
            <a:r>
              <a:rPr lang="en-US" sz="1100" b="1" dirty="0">
                <a:solidFill>
                  <a:schemeClr val="tx1"/>
                </a:solidFill>
              </a:rPr>
              <a:t>Tech Store</a:t>
            </a:r>
            <a:endParaRPr lang="en-US" sz="1100" dirty="0"/>
          </a:p>
        </p:txBody>
      </p:sp>
      <p:sp>
        <p:nvSpPr>
          <p:cNvPr id="22" name="Mock Tech Store amount"/>
          <p:cNvSpPr txBox="1"/>
          <p:nvPr/>
        </p:nvSpPr>
        <p:spPr>
          <a:xfrm>
            <a:off x="7708392" y="2249424"/>
            <a:ext cx="512064" cy="420624"/>
          </a:xfrm>
          <a:prstGeom prst="rect">
            <a:avLst/>
          </a:prstGeom>
          <a:noFill/>
          <a:ln/>
        </p:spPr>
        <p:txBody>
          <a:bodyPr wrap="square" lIns="0" tIns="0" rIns="0" bIns="0" rtlCol="0" anchor="ctr"/>
          <a:lstStyle/>
          <a:p>
            <a:pPr algn="r" indent="0" marL="0">
              <a:buNone/>
            </a:pPr>
            <a:r>
              <a:rPr lang="en-US" sz="1100" b="1" dirty="0">
                <a:solidFill>
                  <a:schemeClr val="tx1"/>
                </a:solidFill>
              </a:rPr>
              <a:t>₹2,240</a:t>
            </a:r>
            <a:endParaRPr lang="en-US" sz="1100" dirty="0"/>
          </a:p>
        </p:txBody>
      </p:sp>
      <p:sp>
        <p:nvSpPr>
          <p:cNvPr id="23" name="Mock row Food Court"/>
          <p:cNvSpPr/>
          <p:nvPr/>
        </p:nvSpPr>
        <p:spPr>
          <a:xfrm>
            <a:off x="6428232" y="2761488"/>
            <a:ext cx="1865376" cy="420624"/>
          </a:xfrm>
          <a:prstGeom prst="roundRect">
            <a:avLst>
              <a:gd name="adj" fmla="val 26087"/>
            </a:avLst>
          </a:prstGeom>
          <a:solidFill>
            <a:schemeClr val="bg2"/>
          </a:solidFill>
          <a:ln w="6350">
            <a:solidFill>
              <a:schemeClr val="bg2"/>
            </a:solidFill>
            <a:prstDash val="solid"/>
          </a:ln>
        </p:spPr>
      </p:sp>
      <p:sp>
        <p:nvSpPr>
          <p:cNvPr id="24" name="Mock Food Court tile"/>
          <p:cNvSpPr/>
          <p:nvPr/>
        </p:nvSpPr>
        <p:spPr>
          <a:xfrm>
            <a:off x="6501384" y="2825496"/>
            <a:ext cx="292608" cy="292608"/>
          </a:xfrm>
          <a:prstGeom prst="roundRect">
            <a:avLst>
              <a:gd name="adj" fmla="val 24000"/>
            </a:avLst>
          </a:prstGeom>
          <a:solidFill>
            <a:schemeClr val="accent3"/>
          </a:solidFill>
          <a:ln w="6350">
            <a:solidFill>
              <a:schemeClr val="accent3"/>
            </a:solidFill>
            <a:prstDash val="solid"/>
          </a:ln>
        </p:spPr>
      </p:sp>
      <p:pic>
        <p:nvPicPr>
          <p:cNvPr id="25" name="Mock Food Court icon" descr="preencoded.png">    </p:cNvPr>
          <p:cNvPicPr>
            <a:picLocks noChangeAspect="1"/>
          </p:cNvPicPr>
          <p:nvPr/>
        </p:nvPicPr>
        <p:blipFill>
          <a:blip r:embed="rId4"/>
          <a:stretch>
            <a:fillRect/>
          </a:stretch>
        </p:blipFill>
        <p:spPr>
          <a:xfrm>
            <a:off x="6571610" y="2895722"/>
            <a:ext cx="152156" cy="152156"/>
          </a:xfrm>
          <a:prstGeom prst="rect">
            <a:avLst/>
          </a:prstGeom>
        </p:spPr>
      </p:pic>
      <p:sp>
        <p:nvSpPr>
          <p:cNvPr id="26" name="Mock Food Court name"/>
          <p:cNvSpPr txBox="1"/>
          <p:nvPr/>
        </p:nvSpPr>
        <p:spPr>
          <a:xfrm>
            <a:off x="6867144" y="2761488"/>
            <a:ext cx="914400" cy="420624"/>
          </a:xfrm>
          <a:prstGeom prst="rect">
            <a:avLst/>
          </a:prstGeom>
          <a:noFill/>
          <a:ln/>
        </p:spPr>
        <p:txBody>
          <a:bodyPr wrap="square" lIns="0" tIns="0" rIns="0" bIns="0" rtlCol="0" anchor="ctr"/>
          <a:lstStyle/>
          <a:p>
            <a:pPr indent="0" marL="0">
              <a:buNone/>
            </a:pPr>
            <a:r>
              <a:rPr lang="en-US" sz="1100" b="1" dirty="0">
                <a:solidFill>
                  <a:schemeClr val="tx1"/>
                </a:solidFill>
              </a:rPr>
              <a:t>Food Court</a:t>
            </a:r>
            <a:endParaRPr lang="en-US" sz="1100" dirty="0"/>
          </a:p>
        </p:txBody>
      </p:sp>
      <p:sp>
        <p:nvSpPr>
          <p:cNvPr id="27" name="Mock Food Court amount"/>
          <p:cNvSpPr txBox="1"/>
          <p:nvPr/>
        </p:nvSpPr>
        <p:spPr>
          <a:xfrm>
            <a:off x="7708392" y="2761488"/>
            <a:ext cx="512064" cy="420624"/>
          </a:xfrm>
          <a:prstGeom prst="rect">
            <a:avLst/>
          </a:prstGeom>
          <a:noFill/>
          <a:ln/>
        </p:spPr>
        <p:txBody>
          <a:bodyPr wrap="square" lIns="0" tIns="0" rIns="0" bIns="0" rtlCol="0" anchor="ctr"/>
          <a:lstStyle/>
          <a:p>
            <a:pPr algn="r" indent="0" marL="0">
              <a:buNone/>
            </a:pPr>
            <a:r>
              <a:rPr lang="en-US" sz="1100" b="1" dirty="0">
                <a:solidFill>
                  <a:schemeClr val="tx1"/>
                </a:solidFill>
              </a:rPr>
              <a:t>₹168</a:t>
            </a:r>
            <a:endParaRPr lang="en-US" sz="1100" dirty="0"/>
          </a:p>
        </p:txBody>
      </p:sp>
      <p:sp>
        <p:nvSpPr>
          <p:cNvPr id="28" name="Mock pay button"/>
          <p:cNvSpPr/>
          <p:nvPr/>
        </p:nvSpPr>
        <p:spPr>
          <a:xfrm>
            <a:off x="6428232" y="3383280"/>
            <a:ext cx="1865376" cy="420624"/>
          </a:xfrm>
          <a:prstGeom prst="roundRect">
            <a:avLst>
              <a:gd name="adj" fmla="val 21739"/>
            </a:avLst>
          </a:prstGeom>
          <a:solidFill>
            <a:schemeClr val="accent1"/>
          </a:solidFill>
          <a:ln w="6350">
            <a:solidFill>
              <a:schemeClr val="accent1"/>
            </a:solidFill>
            <a:prstDash val="solid"/>
          </a:ln>
        </p:spPr>
      </p:sp>
      <p:sp>
        <p:nvSpPr>
          <p:cNvPr id="29" name="Mock pay label"/>
          <p:cNvSpPr txBox="1"/>
          <p:nvPr/>
        </p:nvSpPr>
        <p:spPr>
          <a:xfrm>
            <a:off x="6428232" y="3383280"/>
            <a:ext cx="1865376" cy="420624"/>
          </a:xfrm>
          <a:prstGeom prst="rect">
            <a:avLst/>
          </a:prstGeom>
          <a:noFill/>
          <a:ln/>
        </p:spPr>
        <p:txBody>
          <a:bodyPr wrap="square" lIns="0" tIns="0" rIns="0" bIns="0" rtlCol="0" anchor="ctr"/>
          <a:lstStyle/>
          <a:p>
            <a:pPr algn="ctr" indent="0" marL="0">
              <a:buNone/>
            </a:pPr>
            <a:r>
              <a:rPr lang="en-US" sz="1400" b="1" dirty="0">
                <a:solidFill>
                  <a:schemeClr val="bg1"/>
                </a:solidFill>
              </a:rPr>
              <a:t>Pay ₹4,414</a:t>
            </a:r>
            <a:endParaRPr lang="en-US" sz="1400" dirty="0"/>
          </a:p>
        </p:txBody>
      </p:sp>
      <p:sp>
        <p:nvSpPr>
          <p:cNvPr id="30" name="Mock methods"/>
          <p:cNvSpPr txBox="1"/>
          <p:nvPr/>
        </p:nvSpPr>
        <p:spPr>
          <a:xfrm>
            <a:off x="6428232" y="3913632"/>
            <a:ext cx="1865376" cy="274320"/>
          </a:xfrm>
          <a:prstGeom prst="rect">
            <a:avLst/>
          </a:prstGeom>
          <a:noFill/>
          <a:ln/>
        </p:spPr>
        <p:txBody>
          <a:bodyPr wrap="square" lIns="0" tIns="0" rIns="0" bIns="0" rtlCol="0" anchor="ctr"/>
          <a:lstStyle/>
          <a:p>
            <a:pPr algn="ctr" indent="0" marL="0">
              <a:buNone/>
            </a:pPr>
            <a:r>
              <a:rPr lang="en-US" sz="1000" dirty="0">
                <a:solidFill>
                  <a:schemeClr val="accent5"/>
                </a:solidFill>
              </a:rPr>
              <a:t>UPI · Card · Cash at desk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Three queues become one bag</a:t>
            </a:r>
            <a:endParaRPr lang="en-US" sz="3600" dirty="0"/>
          </a:p>
        </p:txBody>
      </p:sp>
      <p:sp>
        <p:nvSpPr>
          <p:cNvPr id="3" name="Problem card"/>
          <p:cNvSpPr/>
          <p:nvPr/>
        </p:nvSpPr>
        <p:spPr>
          <a:xfrm>
            <a:off x="457200" y="1143000"/>
            <a:ext cx="3931920" cy="3429000"/>
          </a:xfrm>
          <a:prstGeom prst="roundRect">
            <a:avLst>
              <a:gd name="adj" fmla="val 3200"/>
            </a:avLst>
          </a:prstGeom>
          <a:solidFill>
            <a:schemeClr val="bg2"/>
          </a:solidFill>
          <a:ln w="6350">
            <a:solidFill>
              <a:schemeClr val="bg2"/>
            </a:solidFill>
            <a:prstDash val="solid"/>
          </a:ln>
        </p:spPr>
      </p:sp>
      <p:sp>
        <p:nvSpPr>
          <p:cNvPr id="4" name="Problem header"/>
          <p:cNvSpPr txBox="1"/>
          <p:nvPr/>
        </p:nvSpPr>
        <p:spPr>
          <a:xfrm>
            <a:off x="685800" y="1280160"/>
            <a:ext cx="3566160" cy="365760"/>
          </a:xfrm>
          <a:prstGeom prst="rect">
            <a:avLst/>
          </a:prstGeom>
          <a:noFill/>
          <a:ln/>
        </p:spPr>
        <p:txBody>
          <a:bodyPr wrap="square" lIns="0" tIns="0" rIns="0" bIns="0" rtlCol="0" anchor="ctr"/>
          <a:lstStyle/>
          <a:p>
            <a:pPr indent="0" marL="0">
              <a:buNone/>
            </a:pPr>
            <a:r>
              <a:rPr lang="en-US" sz="1600" b="1" dirty="0">
                <a:solidFill>
                  <a:schemeClr val="tx1"/>
                </a:solidFill>
              </a:rPr>
              <a:t>Today: a counter per showroom</a:t>
            </a:r>
            <a:endParaRPr lang="en-US" sz="1600" dirty="0"/>
          </a:p>
        </p:txBody>
      </p:sp>
      <p:sp>
        <p:nvSpPr>
          <p:cNvPr id="5" name="A queue at every showroom tile"/>
          <p:cNvSpPr/>
          <p:nvPr/>
        </p:nvSpPr>
        <p:spPr>
          <a:xfrm>
            <a:off x="685800" y="1847088"/>
            <a:ext cx="420624" cy="420624"/>
          </a:xfrm>
          <a:prstGeom prst="roundRect">
            <a:avLst>
              <a:gd name="adj" fmla="val 24000"/>
            </a:avLst>
          </a:prstGeom>
          <a:solidFill>
            <a:schemeClr val="accent4"/>
          </a:solidFill>
          <a:ln w="6350">
            <a:solidFill>
              <a:schemeClr val="accent4"/>
            </a:solidFill>
            <a:prstDash val="solid"/>
          </a:ln>
        </p:spPr>
      </p:sp>
      <p:pic>
        <p:nvPicPr>
          <p:cNvPr id="6" name="A queue at every showroom icon" descr="preencoded.png">    </p:cNvPr>
          <p:cNvPicPr>
            <a:picLocks noChangeAspect="1"/>
          </p:cNvPicPr>
          <p:nvPr/>
        </p:nvPicPr>
        <p:blipFill>
          <a:blip r:embed="rId1"/>
          <a:stretch>
            <a:fillRect/>
          </a:stretch>
        </p:blipFill>
        <p:spPr>
          <a:xfrm>
            <a:off x="786750" y="1948038"/>
            <a:ext cx="218724" cy="218724"/>
          </a:xfrm>
          <a:prstGeom prst="rect">
            <a:avLst/>
          </a:prstGeom>
        </p:spPr>
      </p:pic>
      <p:sp>
        <p:nvSpPr>
          <p:cNvPr id="7" name="Problem 1"/>
          <p:cNvSpPr txBox="1"/>
          <p:nvPr/>
        </p:nvSpPr>
        <p:spPr>
          <a:xfrm>
            <a:off x="1261872" y="1828800"/>
            <a:ext cx="3017520" cy="749808"/>
          </a:xfrm>
          <a:prstGeom prst="rect">
            <a:avLst/>
          </a:prstGeom>
          <a:noFill/>
          <a:ln/>
        </p:spPr>
        <p:txBody>
          <a:bodyPr wrap="square" lIns="0" tIns="0" rIns="0" bIns="0" rtlCol="0" anchor="t"/>
          <a:lstStyle/>
          <a:p>
            <a:pPr indent="0" marL="0">
              <a:buNone/>
            </a:pPr>
            <a:r>
              <a:rPr lang="en-US" sz="1500" b="1" dirty="0">
                <a:solidFill>
                  <a:schemeClr val="tx1"/>
                </a:solidFill>
              </a:rPr>
              <a:t>A queue at every showroom</a:t>
            </a:r>
            <a:endParaRPr lang="en-US" sz="1500" dirty="0"/>
          </a:p>
          <a:p>
            <a:pPr indent="0" marL="0">
              <a:buNone/>
            </a:pPr>
            <a:r>
              <a:rPr lang="en-US" sz="1400" dirty="0">
                <a:solidFill>
                  <a:schemeClr val="accent5"/>
                </a:solidFill>
              </a:rPr>
              <a:t>Buy three things, stand in three queues</a:t>
            </a:r>
            <a:endParaRPr lang="en-US" sz="1500" dirty="0"/>
          </a:p>
        </p:txBody>
      </p:sp>
      <p:sp>
        <p:nvSpPr>
          <p:cNvPr id="8" name="Scattered GST bills tile"/>
          <p:cNvSpPr/>
          <p:nvPr/>
        </p:nvSpPr>
        <p:spPr>
          <a:xfrm>
            <a:off x="685800" y="2743200"/>
            <a:ext cx="420624" cy="420624"/>
          </a:xfrm>
          <a:prstGeom prst="roundRect">
            <a:avLst>
              <a:gd name="adj" fmla="val 24000"/>
            </a:avLst>
          </a:prstGeom>
          <a:solidFill>
            <a:schemeClr val="accent4"/>
          </a:solidFill>
          <a:ln w="6350">
            <a:solidFill>
              <a:schemeClr val="accent4"/>
            </a:solidFill>
            <a:prstDash val="solid"/>
          </a:ln>
        </p:spPr>
      </p:sp>
      <p:pic>
        <p:nvPicPr>
          <p:cNvPr id="9" name="Scattered GST bills icon" descr="preencoded.png">    </p:cNvPr>
          <p:cNvPicPr>
            <a:picLocks noChangeAspect="1"/>
          </p:cNvPicPr>
          <p:nvPr/>
        </p:nvPicPr>
        <p:blipFill>
          <a:blip r:embed="rId2"/>
          <a:stretch>
            <a:fillRect/>
          </a:stretch>
        </p:blipFill>
        <p:spPr>
          <a:xfrm>
            <a:off x="786750" y="2844150"/>
            <a:ext cx="218724" cy="218724"/>
          </a:xfrm>
          <a:prstGeom prst="rect">
            <a:avLst/>
          </a:prstGeom>
        </p:spPr>
      </p:pic>
      <p:sp>
        <p:nvSpPr>
          <p:cNvPr id="10" name="Problem 2"/>
          <p:cNvSpPr txBox="1"/>
          <p:nvPr/>
        </p:nvSpPr>
        <p:spPr>
          <a:xfrm>
            <a:off x="1261872" y="2724912"/>
            <a:ext cx="3017520" cy="749808"/>
          </a:xfrm>
          <a:prstGeom prst="rect">
            <a:avLst/>
          </a:prstGeom>
          <a:noFill/>
          <a:ln/>
        </p:spPr>
        <p:txBody>
          <a:bodyPr wrap="square" lIns="0" tIns="0" rIns="0" bIns="0" rtlCol="0" anchor="t"/>
          <a:lstStyle/>
          <a:p>
            <a:pPr indent="0" marL="0">
              <a:buNone/>
            </a:pPr>
            <a:r>
              <a:rPr lang="en-US" sz="1500" b="1" dirty="0">
                <a:solidFill>
                  <a:schemeClr val="tx1"/>
                </a:solidFill>
              </a:rPr>
              <a:t>Scattered GST bills</a:t>
            </a:r>
            <a:endParaRPr lang="en-US" sz="1500" dirty="0"/>
          </a:p>
          <a:p>
            <a:pPr indent="0" marL="0">
              <a:buNone/>
            </a:pPr>
            <a:r>
              <a:rPr lang="en-US" sz="1400" dirty="0">
                <a:solidFill>
                  <a:schemeClr val="accent5"/>
                </a:solidFill>
              </a:rPr>
              <a:t>Three separate invoices to reconcile</a:t>
            </a:r>
            <a:endParaRPr lang="en-US" sz="1500" dirty="0"/>
          </a:p>
        </p:txBody>
      </p:sp>
      <p:sp>
        <p:nvSpPr>
          <p:cNvPr id="11" name="Error-prone cash counters tile"/>
          <p:cNvSpPr/>
          <p:nvPr/>
        </p:nvSpPr>
        <p:spPr>
          <a:xfrm>
            <a:off x="685800" y="3639312"/>
            <a:ext cx="420624" cy="420624"/>
          </a:xfrm>
          <a:prstGeom prst="roundRect">
            <a:avLst>
              <a:gd name="adj" fmla="val 24000"/>
            </a:avLst>
          </a:prstGeom>
          <a:solidFill>
            <a:schemeClr val="accent4"/>
          </a:solidFill>
          <a:ln w="6350">
            <a:solidFill>
              <a:schemeClr val="accent4"/>
            </a:solidFill>
            <a:prstDash val="solid"/>
          </a:ln>
        </p:spPr>
      </p:sp>
      <p:pic>
        <p:nvPicPr>
          <p:cNvPr id="12" name="Error-prone cash counters icon" descr="preencoded.png">    </p:cNvPr>
          <p:cNvPicPr>
            <a:picLocks noChangeAspect="1"/>
          </p:cNvPicPr>
          <p:nvPr/>
        </p:nvPicPr>
        <p:blipFill>
          <a:blip r:embed="rId3"/>
          <a:stretch>
            <a:fillRect/>
          </a:stretch>
        </p:blipFill>
        <p:spPr>
          <a:xfrm>
            <a:off x="786750" y="3740262"/>
            <a:ext cx="218724" cy="218724"/>
          </a:xfrm>
          <a:prstGeom prst="rect">
            <a:avLst/>
          </a:prstGeom>
        </p:spPr>
      </p:pic>
      <p:sp>
        <p:nvSpPr>
          <p:cNvPr id="13" name="Problem 3"/>
          <p:cNvSpPr txBox="1"/>
          <p:nvPr/>
        </p:nvSpPr>
        <p:spPr>
          <a:xfrm>
            <a:off x="1261872" y="3621024"/>
            <a:ext cx="3017520" cy="749808"/>
          </a:xfrm>
          <a:prstGeom prst="rect">
            <a:avLst/>
          </a:prstGeom>
          <a:noFill/>
          <a:ln/>
        </p:spPr>
        <p:txBody>
          <a:bodyPr wrap="square" lIns="0" tIns="0" rIns="0" bIns="0" rtlCol="0" anchor="t"/>
          <a:lstStyle/>
          <a:p>
            <a:pPr indent="0" marL="0">
              <a:buNone/>
            </a:pPr>
            <a:r>
              <a:rPr lang="en-US" sz="1500" b="1" dirty="0">
                <a:solidFill>
                  <a:schemeClr val="tx1"/>
                </a:solidFill>
              </a:rPr>
              <a:t>Error-prone cash counters</a:t>
            </a:r>
            <a:endParaRPr lang="en-US" sz="1500" dirty="0"/>
          </a:p>
          <a:p>
            <a:pPr indent="0" marL="0">
              <a:buNone/>
            </a:pPr>
            <a:r>
              <a:rPr lang="en-US" sz="1400" dirty="0">
                <a:solidFill>
                  <a:schemeClr val="accent5"/>
                </a:solidFill>
              </a:rPr>
              <a:t>Wrong change, no day-end total</a:t>
            </a:r>
            <a:endParaRPr lang="en-US" sz="1500" dirty="0"/>
          </a:p>
        </p:txBody>
      </p:sp>
      <p:pic>
        <p:nvPicPr>
          <p:cNvPr id="14" name="Flow arrow" descr="preencoded.png">    </p:cNvPr>
          <p:cNvPicPr>
            <a:picLocks noChangeAspect="1"/>
          </p:cNvPicPr>
          <p:nvPr/>
        </p:nvPicPr>
        <p:blipFill>
          <a:blip r:embed="rId4"/>
          <a:stretch>
            <a:fillRect/>
          </a:stretch>
        </p:blipFill>
        <p:spPr>
          <a:xfrm>
            <a:off x="4526280" y="2651760"/>
            <a:ext cx="384048" cy="384048"/>
          </a:xfrm>
          <a:prstGeom prst="rect">
            <a:avLst/>
          </a:prstGeom>
        </p:spPr>
      </p:pic>
      <p:sp>
        <p:nvSpPr>
          <p:cNvPr id="15" name="Solution header"/>
          <p:cNvSpPr txBox="1"/>
          <p:nvPr/>
        </p:nvSpPr>
        <p:spPr>
          <a:xfrm>
            <a:off x="5074920" y="1143000"/>
            <a:ext cx="3611880" cy="365760"/>
          </a:xfrm>
          <a:prstGeom prst="rect">
            <a:avLst/>
          </a:prstGeom>
          <a:noFill/>
          <a:ln/>
        </p:spPr>
        <p:txBody>
          <a:bodyPr wrap="square" lIns="0" tIns="0" rIns="0" bIns="0" rtlCol="0" anchor="ctr"/>
          <a:lstStyle/>
          <a:p>
            <a:pPr indent="0" marL="0">
              <a:buNone/>
            </a:pPr>
            <a:r>
              <a:rPr lang="en-US" sz="1600" b="1" dirty="0">
                <a:solidFill>
                  <a:schemeClr val="accent1"/>
                </a:solidFill>
              </a:rPr>
              <a:t>With FlashCart</a:t>
            </a:r>
            <a:endParaRPr lang="en-US" sz="1600" dirty="0"/>
          </a:p>
        </p:txBody>
      </p:sp>
      <p:sp>
        <p:nvSpPr>
          <p:cNvPr id="16" name="Step 1 circle"/>
          <p:cNvSpPr/>
          <p:nvPr/>
        </p:nvSpPr>
        <p:spPr>
          <a:xfrm>
            <a:off x="5074920" y="1700784"/>
            <a:ext cx="402336" cy="402336"/>
          </a:xfrm>
          <a:prstGeom prst="ellipse">
            <a:avLst/>
          </a:prstGeom>
          <a:solidFill>
            <a:schemeClr val="accent1"/>
          </a:solidFill>
          <a:ln w="6350">
            <a:solidFill>
              <a:schemeClr val="accent1"/>
            </a:solidFill>
            <a:prstDash val="solid"/>
          </a:ln>
        </p:spPr>
      </p:sp>
      <p:sp>
        <p:nvSpPr>
          <p:cNvPr id="17" name="Step 1 number"/>
          <p:cNvSpPr txBox="1"/>
          <p:nvPr/>
        </p:nvSpPr>
        <p:spPr>
          <a:xfrm>
            <a:off x="5074920" y="170078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8" name="Step 1 text"/>
          <p:cNvSpPr txBox="1"/>
          <p:nvPr/>
        </p:nvSpPr>
        <p:spPr>
          <a:xfrm>
            <a:off x="5623560" y="1664208"/>
            <a:ext cx="3063240" cy="603504"/>
          </a:xfrm>
          <a:prstGeom prst="rect">
            <a:avLst/>
          </a:prstGeom>
          <a:noFill/>
          <a:ln/>
        </p:spPr>
        <p:txBody>
          <a:bodyPr wrap="square" lIns="0" tIns="0" rIns="0" bIns="0" rtlCol="0" anchor="t"/>
          <a:lstStyle/>
          <a:p>
            <a:pPr indent="0" marL="0">
              <a:buNone/>
            </a:pPr>
            <a:r>
              <a:rPr lang="en-US" sz="1500" b="1" dirty="0">
                <a:solidFill>
                  <a:schemeClr val="tx1"/>
                </a:solidFill>
              </a:rPr>
              <a:t>Sign in with a mobile number</a:t>
            </a:r>
            <a:endParaRPr lang="en-US" sz="1500" dirty="0"/>
          </a:p>
          <a:p>
            <a:pPr indent="0" marL="0">
              <a:buNone/>
            </a:pPr>
            <a:r>
              <a:rPr lang="en-US" sz="1400" dirty="0">
                <a:solidFill>
                  <a:schemeClr val="accent5"/>
                </a:solidFill>
              </a:rPr>
              <a:t>No password and no OTP needed</a:t>
            </a:r>
            <a:endParaRPr lang="en-US" sz="1500" dirty="0"/>
          </a:p>
        </p:txBody>
      </p:sp>
      <p:sp>
        <p:nvSpPr>
          <p:cNvPr id="19" name="Step 2 circle"/>
          <p:cNvSpPr/>
          <p:nvPr/>
        </p:nvSpPr>
        <p:spPr>
          <a:xfrm>
            <a:off x="5074920" y="2432304"/>
            <a:ext cx="402336" cy="402336"/>
          </a:xfrm>
          <a:prstGeom prst="ellipse">
            <a:avLst/>
          </a:prstGeom>
          <a:solidFill>
            <a:schemeClr val="accent1"/>
          </a:solidFill>
          <a:ln w="6350">
            <a:solidFill>
              <a:schemeClr val="accent1"/>
            </a:solidFill>
            <a:prstDash val="solid"/>
          </a:ln>
        </p:spPr>
      </p:sp>
      <p:sp>
        <p:nvSpPr>
          <p:cNvPr id="20" name="Step 2 number"/>
          <p:cNvSpPr txBox="1"/>
          <p:nvPr/>
        </p:nvSpPr>
        <p:spPr>
          <a:xfrm>
            <a:off x="5074920" y="243230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1" name="Step 2 text"/>
          <p:cNvSpPr txBox="1"/>
          <p:nvPr/>
        </p:nvSpPr>
        <p:spPr>
          <a:xfrm>
            <a:off x="5623560" y="2395728"/>
            <a:ext cx="3063240" cy="603504"/>
          </a:xfrm>
          <a:prstGeom prst="rect">
            <a:avLst/>
          </a:prstGeom>
          <a:noFill/>
          <a:ln/>
        </p:spPr>
        <p:txBody>
          <a:bodyPr wrap="square" lIns="0" tIns="0" rIns="0" bIns="0" rtlCol="0" anchor="t"/>
          <a:lstStyle/>
          <a:p>
            <a:pPr indent="0" marL="0">
              <a:buNone/>
            </a:pPr>
            <a:r>
              <a:rPr lang="en-US" sz="1500" b="1" dirty="0">
                <a:solidFill>
                  <a:schemeClr val="tx1"/>
                </a:solidFill>
              </a:rPr>
              <a:t>Scan barcodes in any showroom</a:t>
            </a:r>
            <a:endParaRPr lang="en-US" sz="1500" dirty="0"/>
          </a:p>
          <a:p>
            <a:pPr indent="0" marL="0">
              <a:buNone/>
            </a:pPr>
            <a:r>
              <a:rPr lang="en-US" sz="1400" dirty="0">
                <a:solidFill>
                  <a:schemeClr val="accent5"/>
                </a:solidFill>
              </a:rPr>
              <a:t>The phone camera reads EAN-13 tags</a:t>
            </a:r>
            <a:endParaRPr lang="en-US" sz="1500" dirty="0"/>
          </a:p>
        </p:txBody>
      </p:sp>
      <p:sp>
        <p:nvSpPr>
          <p:cNvPr id="22" name="Step 3 circle"/>
          <p:cNvSpPr/>
          <p:nvPr/>
        </p:nvSpPr>
        <p:spPr>
          <a:xfrm>
            <a:off x="5074920" y="3163824"/>
            <a:ext cx="402336" cy="402336"/>
          </a:xfrm>
          <a:prstGeom prst="ellipse">
            <a:avLst/>
          </a:prstGeom>
          <a:solidFill>
            <a:schemeClr val="accent1"/>
          </a:solidFill>
          <a:ln w="6350">
            <a:solidFill>
              <a:schemeClr val="accent1"/>
            </a:solidFill>
            <a:prstDash val="solid"/>
          </a:ln>
        </p:spPr>
      </p:sp>
      <p:sp>
        <p:nvSpPr>
          <p:cNvPr id="23" name="Step 3 number"/>
          <p:cNvSpPr txBox="1"/>
          <p:nvPr/>
        </p:nvSpPr>
        <p:spPr>
          <a:xfrm>
            <a:off x="5074920" y="316382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4" name="Step 3 text"/>
          <p:cNvSpPr txBox="1"/>
          <p:nvPr/>
        </p:nvSpPr>
        <p:spPr>
          <a:xfrm>
            <a:off x="5623560" y="3127248"/>
            <a:ext cx="3063240" cy="603504"/>
          </a:xfrm>
          <a:prstGeom prst="rect">
            <a:avLst/>
          </a:prstGeom>
          <a:noFill/>
          <a:ln/>
        </p:spPr>
        <p:txBody>
          <a:bodyPr wrap="square" lIns="0" tIns="0" rIns="0" bIns="0" rtlCol="0" anchor="t"/>
          <a:lstStyle/>
          <a:p>
            <a:pPr indent="0" marL="0">
              <a:buNone/>
            </a:pPr>
            <a:r>
              <a:rPr lang="en-US" sz="1500" b="1" dirty="0">
                <a:solidFill>
                  <a:schemeClr val="tx1"/>
                </a:solidFill>
              </a:rPr>
              <a:t>Review one bag and one GST bill</a:t>
            </a:r>
            <a:endParaRPr lang="en-US" sz="1500" dirty="0"/>
          </a:p>
          <a:p>
            <a:pPr indent="0" marL="0">
              <a:buNone/>
            </a:pPr>
            <a:r>
              <a:rPr lang="en-US" sz="1400" dirty="0">
                <a:solidFill>
                  <a:schemeClr val="accent5"/>
                </a:solidFill>
              </a:rPr>
              <a:t>5%, 12% and 18% slabs, CGST + SGST</a:t>
            </a:r>
            <a:endParaRPr lang="en-US" sz="1500" dirty="0"/>
          </a:p>
        </p:txBody>
      </p:sp>
      <p:sp>
        <p:nvSpPr>
          <p:cNvPr id="25" name="Step 4 circle"/>
          <p:cNvSpPr/>
          <p:nvPr/>
        </p:nvSpPr>
        <p:spPr>
          <a:xfrm>
            <a:off x="5074920" y="3895344"/>
            <a:ext cx="402336" cy="402336"/>
          </a:xfrm>
          <a:prstGeom prst="ellipse">
            <a:avLst/>
          </a:prstGeom>
          <a:solidFill>
            <a:schemeClr val="accent1"/>
          </a:solidFill>
          <a:ln w="6350">
            <a:solidFill>
              <a:schemeClr val="accent1"/>
            </a:solidFill>
            <a:prstDash val="solid"/>
          </a:ln>
        </p:spPr>
      </p:sp>
      <p:sp>
        <p:nvSpPr>
          <p:cNvPr id="26" name="Step 4 number"/>
          <p:cNvSpPr txBox="1"/>
          <p:nvPr/>
        </p:nvSpPr>
        <p:spPr>
          <a:xfrm>
            <a:off x="5074920" y="389534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7" name="Step 4 text"/>
          <p:cNvSpPr txBox="1"/>
          <p:nvPr/>
        </p:nvSpPr>
        <p:spPr>
          <a:xfrm>
            <a:off x="5623560" y="3858768"/>
            <a:ext cx="3063240" cy="603504"/>
          </a:xfrm>
          <a:prstGeom prst="rect">
            <a:avLst/>
          </a:prstGeom>
          <a:noFill/>
          <a:ln/>
        </p:spPr>
        <p:txBody>
          <a:bodyPr wrap="square" lIns="0" tIns="0" rIns="0" bIns="0" rtlCol="0" anchor="t"/>
          <a:lstStyle/>
          <a:p>
            <a:pPr indent="0" marL="0">
              <a:buNone/>
            </a:pPr>
            <a:r>
              <a:rPr lang="en-US" sz="1500" b="1" dirty="0">
                <a:solidFill>
                  <a:schemeClr val="tx1"/>
                </a:solidFill>
              </a:rPr>
              <a:t>Pay once: UPI, card or cash</a:t>
            </a:r>
            <a:endParaRPr lang="en-US" sz="1500" dirty="0"/>
          </a:p>
          <a:p>
            <a:pPr indent="0" marL="0">
              <a:buNone/>
            </a:pPr>
            <a:r>
              <a:rPr lang="en-US" sz="1400" dirty="0">
                <a:solidFill>
                  <a:schemeClr val="accent5"/>
                </a:solidFill>
              </a:rPr>
              <a:t>Get one digital tax invoice</a:t>
            </a:r>
            <a:endParaRPr lang="en-US" sz="15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Two apps, one checkout</a:t>
            </a:r>
            <a:endParaRPr lang="en-US" sz="3600" dirty="0"/>
          </a:p>
        </p:txBody>
      </p:sp>
      <p:sp>
        <p:nvSpPr>
          <p:cNvPr id="3" name="Customer app card"/>
          <p:cNvSpPr/>
          <p:nvPr/>
        </p:nvSpPr>
        <p:spPr>
          <a:xfrm>
            <a:off x="457200" y="1097280"/>
            <a:ext cx="3931920" cy="2788920"/>
          </a:xfrm>
          <a:prstGeom prst="roundRect">
            <a:avLst>
              <a:gd name="adj" fmla="val 3934"/>
            </a:avLst>
          </a:prstGeom>
          <a:solidFill>
            <a:schemeClr val="bg2"/>
          </a:solidFill>
          <a:ln w="6350">
            <a:solidFill>
              <a:schemeClr val="bg2"/>
            </a:solidFill>
            <a:prstDash val="solid"/>
          </a:ln>
        </p:spPr>
      </p:sp>
      <p:sp>
        <p:nvSpPr>
          <p:cNvPr id="4" name="Customer app tile"/>
          <p:cNvSpPr/>
          <p:nvPr/>
        </p:nvSpPr>
        <p:spPr>
          <a:xfrm>
            <a:off x="658368" y="1261872"/>
            <a:ext cx="502920" cy="502920"/>
          </a:xfrm>
          <a:prstGeom prst="roundRect">
            <a:avLst>
              <a:gd name="adj" fmla="val 24000"/>
            </a:avLst>
          </a:prstGeom>
          <a:solidFill>
            <a:schemeClr val="accent1"/>
          </a:solidFill>
          <a:ln w="6350">
            <a:solidFill>
              <a:schemeClr val="accent1"/>
            </a:solidFill>
            <a:prstDash val="solid"/>
          </a:ln>
        </p:spPr>
      </p:sp>
      <p:pic>
        <p:nvPicPr>
          <p:cNvPr id="5" name="Customer app icon" descr="preencoded.png">    </p:cNvPr>
          <p:cNvPicPr>
            <a:picLocks noChangeAspect="1"/>
          </p:cNvPicPr>
          <p:nvPr/>
        </p:nvPicPr>
        <p:blipFill>
          <a:blip r:embed="rId1"/>
          <a:stretch>
            <a:fillRect/>
          </a:stretch>
        </p:blipFill>
        <p:spPr>
          <a:xfrm>
            <a:off x="779069" y="1382573"/>
            <a:ext cx="261518" cy="261518"/>
          </a:xfrm>
          <a:prstGeom prst="rect">
            <a:avLst/>
          </a:prstGeom>
        </p:spPr>
      </p:pic>
      <p:sp>
        <p:nvSpPr>
          <p:cNvPr id="6" name="Customer app header"/>
          <p:cNvSpPr txBox="1"/>
          <p:nvPr/>
        </p:nvSpPr>
        <p:spPr>
          <a:xfrm>
            <a:off x="1298448" y="1243584"/>
            <a:ext cx="2926080" cy="566928"/>
          </a:xfrm>
          <a:prstGeom prst="rect">
            <a:avLst/>
          </a:prstGeom>
          <a:noFill/>
          <a:ln/>
        </p:spPr>
        <p:txBody>
          <a:bodyPr wrap="square" lIns="0" tIns="0" rIns="0" bIns="0" rtlCol="0" anchor="t"/>
          <a:lstStyle/>
          <a:p>
            <a:pPr indent="0" marL="0">
              <a:buNone/>
            </a:pPr>
            <a:r>
              <a:rPr lang="en-US" sz="2000" b="1" dirty="0">
                <a:solidFill>
                  <a:schemeClr val="tx1"/>
                </a:solidFill>
              </a:rPr>
              <a:t>Customer app</a:t>
            </a:r>
            <a:endParaRPr lang="en-US" sz="2000" dirty="0"/>
          </a:p>
          <a:p>
            <a:pPr indent="0" marL="0">
              <a:buNone/>
            </a:pPr>
            <a:r>
              <a:rPr lang="en-US" sz="1300" dirty="0">
                <a:solidFill>
                  <a:schemeClr val="accent5"/>
                </a:solidFill>
              </a:rPr>
              <a:t>on the shopper's phone</a:t>
            </a:r>
            <a:endParaRPr lang="en-US" sz="2000" dirty="0"/>
          </a:p>
        </p:txBody>
      </p:sp>
      <p:pic>
        <p:nvPicPr>
          <p:cNvPr id="7" name="Customer app check 1" descr="preencoded.png">    </p:cNvPr>
          <p:cNvPicPr>
            <a:picLocks noChangeAspect="1"/>
          </p:cNvPicPr>
          <p:nvPr/>
        </p:nvPicPr>
        <p:blipFill>
          <a:blip r:embed="rId2"/>
          <a:stretch>
            <a:fillRect/>
          </a:stretch>
        </p:blipFill>
        <p:spPr>
          <a:xfrm>
            <a:off x="685800" y="2029968"/>
            <a:ext cx="219456" cy="219456"/>
          </a:xfrm>
          <a:prstGeom prst="rect">
            <a:avLst/>
          </a:prstGeom>
        </p:spPr>
      </p:pic>
      <p:sp>
        <p:nvSpPr>
          <p:cNvPr id="8" name="Customer app item 1"/>
          <p:cNvSpPr txBox="1"/>
          <p:nvPr/>
        </p:nvSpPr>
        <p:spPr>
          <a:xfrm>
            <a:off x="1005840" y="1993392"/>
            <a:ext cx="3246120" cy="329184"/>
          </a:xfrm>
          <a:prstGeom prst="rect">
            <a:avLst/>
          </a:prstGeom>
          <a:noFill/>
          <a:ln/>
        </p:spPr>
        <p:txBody>
          <a:bodyPr wrap="square" lIns="0" tIns="0" rIns="0" bIns="0" rtlCol="0" anchor="t"/>
          <a:lstStyle/>
          <a:p>
            <a:pPr indent="0" marL="0">
              <a:buNone/>
            </a:pPr>
            <a:r>
              <a:rPr lang="en-US" sz="1400" dirty="0">
                <a:solidFill>
                  <a:schemeClr val="tx1"/>
                </a:solidFill>
              </a:rPr>
              <a:t>Scans EAN-13, UPC and Code 128 barcodes</a:t>
            </a:r>
            <a:endParaRPr lang="en-US" sz="1400" dirty="0"/>
          </a:p>
        </p:txBody>
      </p:sp>
      <p:pic>
        <p:nvPicPr>
          <p:cNvPr id="9" name="Customer app check 2" descr="preencoded.png">    </p:cNvPr>
          <p:cNvPicPr>
            <a:picLocks noChangeAspect="1"/>
          </p:cNvPicPr>
          <p:nvPr/>
        </p:nvPicPr>
        <p:blipFill>
          <a:blip r:embed="rId3"/>
          <a:stretch>
            <a:fillRect/>
          </a:stretch>
        </p:blipFill>
        <p:spPr>
          <a:xfrm>
            <a:off x="685800" y="2487168"/>
            <a:ext cx="219456" cy="219456"/>
          </a:xfrm>
          <a:prstGeom prst="rect">
            <a:avLst/>
          </a:prstGeom>
        </p:spPr>
      </p:pic>
      <p:sp>
        <p:nvSpPr>
          <p:cNvPr id="10" name="Customer app item 2"/>
          <p:cNvSpPr txBox="1"/>
          <p:nvPr/>
        </p:nvSpPr>
        <p:spPr>
          <a:xfrm>
            <a:off x="1005840" y="2450592"/>
            <a:ext cx="3246120" cy="329184"/>
          </a:xfrm>
          <a:prstGeom prst="rect">
            <a:avLst/>
          </a:prstGeom>
          <a:noFill/>
          <a:ln/>
        </p:spPr>
        <p:txBody>
          <a:bodyPr wrap="square" lIns="0" tIns="0" rIns="0" bIns="0" rtlCol="0" anchor="t"/>
          <a:lstStyle/>
          <a:p>
            <a:pPr indent="0" marL="0">
              <a:buNone/>
            </a:pPr>
            <a:r>
              <a:rPr lang="en-US" sz="1400" dirty="0">
                <a:solidFill>
                  <a:schemeClr val="tx1"/>
                </a:solidFill>
              </a:rPr>
              <a:t>One bag across five showrooms</a:t>
            </a:r>
            <a:endParaRPr lang="en-US" sz="1400" dirty="0"/>
          </a:p>
        </p:txBody>
      </p:sp>
      <p:pic>
        <p:nvPicPr>
          <p:cNvPr id="11" name="Customer app check 3" descr="preencoded.png">    </p:cNvPr>
          <p:cNvPicPr>
            <a:picLocks noChangeAspect="1"/>
          </p:cNvPicPr>
          <p:nvPr/>
        </p:nvPicPr>
        <p:blipFill>
          <a:blip r:embed="rId4"/>
          <a:stretch>
            <a:fillRect/>
          </a:stretch>
        </p:blipFill>
        <p:spPr>
          <a:xfrm>
            <a:off x="685800" y="2944368"/>
            <a:ext cx="219456" cy="219456"/>
          </a:xfrm>
          <a:prstGeom prst="rect">
            <a:avLst/>
          </a:prstGeom>
        </p:spPr>
      </p:pic>
      <p:sp>
        <p:nvSpPr>
          <p:cNvPr id="12" name="Customer app item 3"/>
          <p:cNvSpPr txBox="1"/>
          <p:nvPr/>
        </p:nvSpPr>
        <p:spPr>
          <a:xfrm>
            <a:off x="1005840" y="2907792"/>
            <a:ext cx="3246120" cy="329184"/>
          </a:xfrm>
          <a:prstGeom prst="rect">
            <a:avLst/>
          </a:prstGeom>
          <a:noFill/>
          <a:ln/>
        </p:spPr>
        <p:txBody>
          <a:bodyPr wrap="square" lIns="0" tIns="0" rIns="0" bIns="0" rtlCol="0" anchor="t"/>
          <a:lstStyle/>
          <a:p>
            <a:pPr indent="0" marL="0">
              <a:buNone/>
            </a:pPr>
            <a:r>
              <a:rPr lang="en-US" sz="1400" dirty="0">
                <a:solidFill>
                  <a:schemeClr val="tx1"/>
                </a:solidFill>
              </a:rPr>
              <a:t>UPI and card via Razorpay, or cash</a:t>
            </a:r>
            <a:endParaRPr lang="en-US" sz="1400" dirty="0"/>
          </a:p>
        </p:txBody>
      </p:sp>
      <p:pic>
        <p:nvPicPr>
          <p:cNvPr id="13" name="Customer app check 4" descr="preencoded.png">    </p:cNvPr>
          <p:cNvPicPr>
            <a:picLocks noChangeAspect="1"/>
          </p:cNvPicPr>
          <p:nvPr/>
        </p:nvPicPr>
        <p:blipFill>
          <a:blip r:embed="rId5"/>
          <a:stretch>
            <a:fillRect/>
          </a:stretch>
        </p:blipFill>
        <p:spPr>
          <a:xfrm>
            <a:off x="685800" y="3401568"/>
            <a:ext cx="219456" cy="219456"/>
          </a:xfrm>
          <a:prstGeom prst="rect">
            <a:avLst/>
          </a:prstGeom>
        </p:spPr>
      </p:pic>
      <p:sp>
        <p:nvSpPr>
          <p:cNvPr id="14" name="Customer app item 4"/>
          <p:cNvSpPr txBox="1"/>
          <p:nvPr/>
        </p:nvSpPr>
        <p:spPr>
          <a:xfrm>
            <a:off x="1005840" y="3364992"/>
            <a:ext cx="3246120" cy="329184"/>
          </a:xfrm>
          <a:prstGeom prst="rect">
            <a:avLst/>
          </a:prstGeom>
          <a:noFill/>
          <a:ln/>
        </p:spPr>
        <p:txBody>
          <a:bodyPr wrap="square" lIns="0" tIns="0" rIns="0" bIns="0" rtlCol="0" anchor="t"/>
          <a:lstStyle/>
          <a:p>
            <a:pPr indent="0" marL="0">
              <a:buNone/>
            </a:pPr>
            <a:r>
              <a:rPr lang="en-US" sz="1400" dirty="0">
                <a:solidFill>
                  <a:schemeClr val="tx1"/>
                </a:solidFill>
              </a:rPr>
              <a:t>GST invoice and receipt history</a:t>
            </a:r>
            <a:endParaRPr lang="en-US" sz="1400" dirty="0"/>
          </a:p>
        </p:txBody>
      </p:sp>
      <p:sp>
        <p:nvSpPr>
          <p:cNvPr id="15" name="Cash desk card"/>
          <p:cNvSpPr/>
          <p:nvPr/>
        </p:nvSpPr>
        <p:spPr>
          <a:xfrm>
            <a:off x="4754880" y="1097280"/>
            <a:ext cx="3931920" cy="2788920"/>
          </a:xfrm>
          <a:prstGeom prst="roundRect">
            <a:avLst>
              <a:gd name="adj" fmla="val 3934"/>
            </a:avLst>
          </a:prstGeom>
          <a:solidFill>
            <a:schemeClr val="bg2"/>
          </a:solidFill>
          <a:ln w="6350">
            <a:solidFill>
              <a:schemeClr val="bg2"/>
            </a:solidFill>
            <a:prstDash val="solid"/>
          </a:ln>
        </p:spPr>
      </p:sp>
      <p:sp>
        <p:nvSpPr>
          <p:cNvPr id="16" name="Cash desk tile"/>
          <p:cNvSpPr/>
          <p:nvPr/>
        </p:nvSpPr>
        <p:spPr>
          <a:xfrm>
            <a:off x="4956048" y="1261872"/>
            <a:ext cx="502920" cy="502920"/>
          </a:xfrm>
          <a:prstGeom prst="roundRect">
            <a:avLst>
              <a:gd name="adj" fmla="val 24000"/>
            </a:avLst>
          </a:prstGeom>
          <a:solidFill>
            <a:schemeClr val="accent3"/>
          </a:solidFill>
          <a:ln w="6350">
            <a:solidFill>
              <a:schemeClr val="accent3"/>
            </a:solidFill>
            <a:prstDash val="solid"/>
          </a:ln>
        </p:spPr>
      </p:sp>
      <p:pic>
        <p:nvPicPr>
          <p:cNvPr id="17" name="Cash desk icon" descr="preencoded.png">    </p:cNvPr>
          <p:cNvPicPr>
            <a:picLocks noChangeAspect="1"/>
          </p:cNvPicPr>
          <p:nvPr/>
        </p:nvPicPr>
        <p:blipFill>
          <a:blip r:embed="rId6"/>
          <a:stretch>
            <a:fillRect/>
          </a:stretch>
        </p:blipFill>
        <p:spPr>
          <a:xfrm>
            <a:off x="5076749" y="1382573"/>
            <a:ext cx="261518" cy="261518"/>
          </a:xfrm>
          <a:prstGeom prst="rect">
            <a:avLst/>
          </a:prstGeom>
        </p:spPr>
      </p:pic>
      <p:sp>
        <p:nvSpPr>
          <p:cNvPr id="18" name="Cash desk header"/>
          <p:cNvSpPr txBox="1"/>
          <p:nvPr/>
        </p:nvSpPr>
        <p:spPr>
          <a:xfrm>
            <a:off x="5596128" y="1243584"/>
            <a:ext cx="2926080" cy="566928"/>
          </a:xfrm>
          <a:prstGeom prst="rect">
            <a:avLst/>
          </a:prstGeom>
          <a:noFill/>
          <a:ln/>
        </p:spPr>
        <p:txBody>
          <a:bodyPr wrap="square" lIns="0" tIns="0" rIns="0" bIns="0" rtlCol="0" anchor="t"/>
          <a:lstStyle/>
          <a:p>
            <a:pPr indent="0" marL="0">
              <a:buNone/>
            </a:pPr>
            <a:r>
              <a:rPr lang="en-US" sz="2000" b="1" dirty="0">
                <a:solidFill>
                  <a:schemeClr val="tx1"/>
                </a:solidFill>
              </a:rPr>
              <a:t>Cash desk</a:t>
            </a:r>
            <a:endParaRPr lang="en-US" sz="2000" dirty="0"/>
          </a:p>
          <a:p>
            <a:pPr indent="0" marL="0">
              <a:buNone/>
            </a:pPr>
            <a:r>
              <a:rPr lang="en-US" sz="1300" dirty="0">
                <a:solidFill>
                  <a:schemeClr val="accent5"/>
                </a:solidFill>
              </a:rPr>
              <a:t>on the cashier's laptop or tablet</a:t>
            </a:r>
            <a:endParaRPr lang="en-US" sz="2000" dirty="0"/>
          </a:p>
        </p:txBody>
      </p:sp>
      <p:pic>
        <p:nvPicPr>
          <p:cNvPr id="19" name="Cash desk check 1" descr="preencoded.png">    </p:cNvPr>
          <p:cNvPicPr>
            <a:picLocks noChangeAspect="1"/>
          </p:cNvPicPr>
          <p:nvPr/>
        </p:nvPicPr>
        <p:blipFill>
          <a:blip r:embed="rId7"/>
          <a:stretch>
            <a:fillRect/>
          </a:stretch>
        </p:blipFill>
        <p:spPr>
          <a:xfrm>
            <a:off x="4983480" y="2029968"/>
            <a:ext cx="219456" cy="219456"/>
          </a:xfrm>
          <a:prstGeom prst="rect">
            <a:avLst/>
          </a:prstGeom>
        </p:spPr>
      </p:pic>
      <p:sp>
        <p:nvSpPr>
          <p:cNvPr id="20" name="Cash desk item 1"/>
          <p:cNvSpPr txBox="1"/>
          <p:nvPr/>
        </p:nvSpPr>
        <p:spPr>
          <a:xfrm>
            <a:off x="5303520" y="1993392"/>
            <a:ext cx="3246120" cy="329184"/>
          </a:xfrm>
          <a:prstGeom prst="rect">
            <a:avLst/>
          </a:prstGeom>
          <a:noFill/>
          <a:ln/>
        </p:spPr>
        <p:txBody>
          <a:bodyPr wrap="square" lIns="0" tIns="0" rIns="0" bIns="0" rtlCol="0" anchor="t"/>
          <a:lstStyle/>
          <a:p>
            <a:pPr indent="0" marL="0">
              <a:buNone/>
            </a:pPr>
            <a:r>
              <a:rPr lang="en-US" sz="1400" dirty="0">
                <a:solidFill>
                  <a:schemeClr val="tx1"/>
                </a:solidFill>
              </a:rPr>
              <a:t>Cashier signs in with email + password</a:t>
            </a:r>
            <a:endParaRPr lang="en-US" sz="1400" dirty="0"/>
          </a:p>
        </p:txBody>
      </p:sp>
      <p:pic>
        <p:nvPicPr>
          <p:cNvPr id="21" name="Cash desk check 2" descr="preencoded.png">    </p:cNvPr>
          <p:cNvPicPr>
            <a:picLocks noChangeAspect="1"/>
          </p:cNvPicPr>
          <p:nvPr/>
        </p:nvPicPr>
        <p:blipFill>
          <a:blip r:embed="rId8"/>
          <a:stretch>
            <a:fillRect/>
          </a:stretch>
        </p:blipFill>
        <p:spPr>
          <a:xfrm>
            <a:off x="4983480" y="2487168"/>
            <a:ext cx="219456" cy="219456"/>
          </a:xfrm>
          <a:prstGeom prst="rect">
            <a:avLst/>
          </a:prstGeom>
        </p:spPr>
      </p:pic>
      <p:sp>
        <p:nvSpPr>
          <p:cNvPr id="22" name="Cash desk item 2"/>
          <p:cNvSpPr txBox="1"/>
          <p:nvPr/>
        </p:nvSpPr>
        <p:spPr>
          <a:xfrm>
            <a:off x="5303520" y="2450592"/>
            <a:ext cx="3246120" cy="329184"/>
          </a:xfrm>
          <a:prstGeom prst="rect">
            <a:avLst/>
          </a:prstGeom>
          <a:noFill/>
          <a:ln/>
        </p:spPr>
        <p:txBody>
          <a:bodyPr wrap="square" lIns="0" tIns="0" rIns="0" bIns="0" rtlCol="0" anchor="t"/>
          <a:lstStyle/>
          <a:p>
            <a:pPr indent="0" marL="0">
              <a:buNone/>
            </a:pPr>
            <a:r>
              <a:rPr lang="en-US" sz="1400" dirty="0">
                <a:solidFill>
                  <a:schemeClr val="tx1"/>
                </a:solidFill>
              </a:rPr>
              <a:t>Finds a bill by barcode or phone number</a:t>
            </a:r>
            <a:endParaRPr lang="en-US" sz="1400" dirty="0"/>
          </a:p>
        </p:txBody>
      </p:sp>
      <p:pic>
        <p:nvPicPr>
          <p:cNvPr id="23" name="Cash desk check 3" descr="preencoded.png">    </p:cNvPr>
          <p:cNvPicPr>
            <a:picLocks noChangeAspect="1"/>
          </p:cNvPicPr>
          <p:nvPr/>
        </p:nvPicPr>
        <p:blipFill>
          <a:blip r:embed="rId9"/>
          <a:stretch>
            <a:fillRect/>
          </a:stretch>
        </p:blipFill>
        <p:spPr>
          <a:xfrm>
            <a:off x="4983480" y="2944368"/>
            <a:ext cx="219456" cy="219456"/>
          </a:xfrm>
          <a:prstGeom prst="rect">
            <a:avLst/>
          </a:prstGeom>
        </p:spPr>
      </p:pic>
      <p:sp>
        <p:nvSpPr>
          <p:cNvPr id="24" name="Cash desk item 3"/>
          <p:cNvSpPr txBox="1"/>
          <p:nvPr/>
        </p:nvSpPr>
        <p:spPr>
          <a:xfrm>
            <a:off x="5303520" y="2907792"/>
            <a:ext cx="3246120" cy="329184"/>
          </a:xfrm>
          <a:prstGeom prst="rect">
            <a:avLst/>
          </a:prstGeom>
          <a:noFill/>
          <a:ln/>
        </p:spPr>
        <p:txBody>
          <a:bodyPr wrap="square" lIns="0" tIns="0" rIns="0" bIns="0" rtlCol="0" anchor="t"/>
          <a:lstStyle/>
          <a:p>
            <a:pPr indent="0" marL="0">
              <a:buNone/>
            </a:pPr>
            <a:r>
              <a:rPr lang="en-US" sz="1400" dirty="0">
                <a:solidFill>
                  <a:schemeClr val="tx1"/>
                </a:solidFill>
              </a:rPr>
              <a:t>Shows the change to return, note by note</a:t>
            </a:r>
            <a:endParaRPr lang="en-US" sz="1400" dirty="0"/>
          </a:p>
        </p:txBody>
      </p:sp>
      <p:pic>
        <p:nvPicPr>
          <p:cNvPr id="25" name="Cash desk check 4" descr="preencoded.png">    </p:cNvPr>
          <p:cNvPicPr>
            <a:picLocks noChangeAspect="1"/>
          </p:cNvPicPr>
          <p:nvPr/>
        </p:nvPicPr>
        <p:blipFill>
          <a:blip r:embed="rId10"/>
          <a:stretch>
            <a:fillRect/>
          </a:stretch>
        </p:blipFill>
        <p:spPr>
          <a:xfrm>
            <a:off x="4983480" y="3401568"/>
            <a:ext cx="219456" cy="219456"/>
          </a:xfrm>
          <a:prstGeom prst="rect">
            <a:avLst/>
          </a:prstGeom>
        </p:spPr>
      </p:pic>
      <p:sp>
        <p:nvSpPr>
          <p:cNvPr id="26" name="Cash desk item 4"/>
          <p:cNvSpPr txBox="1"/>
          <p:nvPr/>
        </p:nvSpPr>
        <p:spPr>
          <a:xfrm>
            <a:off x="5303520" y="3364992"/>
            <a:ext cx="3246120" cy="329184"/>
          </a:xfrm>
          <a:prstGeom prst="rect">
            <a:avLst/>
          </a:prstGeom>
          <a:noFill/>
          <a:ln/>
        </p:spPr>
        <p:txBody>
          <a:bodyPr wrap="square" lIns="0" tIns="0" rIns="0" bIns="0" rtlCol="0" anchor="t"/>
          <a:lstStyle/>
          <a:p>
            <a:pPr indent="0" marL="0">
              <a:buNone/>
            </a:pPr>
            <a:r>
              <a:rPr lang="en-US" sz="1400" dirty="0">
                <a:solidFill>
                  <a:schemeClr val="tx1"/>
                </a:solidFill>
              </a:rPr>
              <a:t>Tracks the drawer and the day-end total</a:t>
            </a:r>
            <a:endParaRPr lang="en-US" sz="1400" dirty="0"/>
          </a:p>
        </p:txBody>
      </p:sp>
      <p:sp>
        <p:nvSpPr>
          <p:cNvPr id="27" name="Real tags callout"/>
          <p:cNvSpPr/>
          <p:nvPr/>
        </p:nvSpPr>
        <p:spPr>
          <a:xfrm>
            <a:off x="457200" y="4041648"/>
            <a:ext cx="8229600" cy="548640"/>
          </a:xfrm>
          <a:prstGeom prst="roundRect">
            <a:avLst>
              <a:gd name="adj" fmla="val 20000"/>
            </a:avLst>
          </a:prstGeom>
          <a:solidFill>
            <a:schemeClr val="bg2"/>
          </a:solidFill>
          <a:ln w="6350">
            <a:solidFill>
              <a:schemeClr val="bg2"/>
            </a:solidFill>
            <a:prstDash val="solid"/>
          </a:ln>
        </p:spPr>
      </p:sp>
      <p:pic>
        <p:nvPicPr>
          <p:cNvPr id="28" name="Real tags icon" descr="preencoded.png">    </p:cNvPr>
          <p:cNvPicPr>
            <a:picLocks noChangeAspect="1"/>
          </p:cNvPicPr>
          <p:nvPr/>
        </p:nvPicPr>
        <p:blipFill>
          <a:blip r:embed="rId11"/>
          <a:stretch>
            <a:fillRect/>
          </a:stretch>
        </p:blipFill>
        <p:spPr>
          <a:xfrm>
            <a:off x="658368" y="4142232"/>
            <a:ext cx="347472" cy="347472"/>
          </a:xfrm>
          <a:prstGeom prst="rect">
            <a:avLst/>
          </a:prstGeom>
        </p:spPr>
      </p:pic>
      <p:sp>
        <p:nvSpPr>
          <p:cNvPr id="29" name="Real tags text"/>
          <p:cNvSpPr txBox="1"/>
          <p:nvPr/>
        </p:nvSpPr>
        <p:spPr>
          <a:xfrm>
            <a:off x="1143000" y="4041648"/>
            <a:ext cx="7406640" cy="548640"/>
          </a:xfrm>
          <a:prstGeom prst="rect">
            <a:avLst/>
          </a:prstGeom>
          <a:noFill/>
          <a:ln/>
        </p:spPr>
        <p:txBody>
          <a:bodyPr wrap="square" lIns="0" tIns="0" rIns="0" bIns="0" rtlCol="0" anchor="ctr"/>
          <a:lstStyle/>
          <a:p>
            <a:pPr indent="0" marL="0">
              <a:buNone/>
            </a:pPr>
            <a:r>
              <a:rPr lang="en-US" sz="1400" b="1" dirty="0">
                <a:solidFill>
                  <a:schemeClr val="tx1"/>
                </a:solidFill>
              </a:rPr>
              <a:t>Tested on real tags:  </a:t>
            </a:r>
            <a:pPr indent="0" marL="0">
              <a:buNone/>
            </a:pPr>
            <a:r>
              <a:rPr lang="en-US" sz="1400" dirty="0">
                <a:solidFill>
                  <a:schemeClr val="tx2"/>
                </a:solidFill>
              </a:rPr>
              <a:t>Puma polo ₹2,999  ·  Mufti shirt ₹2,399  ·  JPG parfum, billed at exact MRP</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How FlashCart is built</a:t>
            </a:r>
            <a:endParaRPr lang="en-US" sz="3600" dirty="0"/>
          </a:p>
        </p:txBody>
      </p:sp>
      <p:pic>
        <p:nvPicPr>
          <p:cNvPr id="3" name="Architecture diagram" descr="Three-tier architecture: browser apps, Express API, SQLite and Razorpay">    </p:cNvPr>
          <p:cNvPicPr>
            <a:picLocks noChangeAspect="1"/>
          </p:cNvPicPr>
          <p:nvPr/>
        </p:nvPicPr>
        <p:blipFill>
          <a:blip r:embed="rId1"/>
          <a:stretch>
            <a:fillRect/>
          </a:stretch>
        </p:blipFill>
        <p:spPr>
          <a:xfrm>
            <a:off x="457200" y="1121246"/>
            <a:ext cx="4983480" cy="2100907"/>
          </a:xfrm>
          <a:prstGeom prst="rect">
            <a:avLst/>
          </a:prstGeom>
        </p:spPr>
      </p:pic>
      <p:sp>
        <p:nvSpPr>
          <p:cNvPr id="4" name="Architecture caption"/>
          <p:cNvSpPr txBox="1"/>
          <p:nvPr/>
        </p:nvSpPr>
        <p:spPr>
          <a:xfrm>
            <a:off x="457200" y="3295306"/>
            <a:ext cx="4983480" cy="274320"/>
          </a:xfrm>
          <a:prstGeom prst="rect">
            <a:avLst/>
          </a:prstGeom>
          <a:noFill/>
          <a:ln/>
        </p:spPr>
        <p:txBody>
          <a:bodyPr wrap="square" lIns="0" tIns="0" rIns="0" bIns="0" rtlCol="0" anchor="ctr"/>
          <a:lstStyle/>
          <a:p>
            <a:pPr indent="0" marL="0">
              <a:buNone/>
            </a:pPr>
            <a:r>
              <a:rPr lang="en-US" sz="1100" i="1" dirty="0">
                <a:solidFill>
                  <a:schemeClr val="accent5"/>
                </a:solidFill>
              </a:rPr>
              <a:t>Three tiers: browser apps → Express REST API → SQLite database and Razorpay</a:t>
            </a:r>
            <a:endParaRPr lang="en-US" sz="1100" dirty="0"/>
          </a:p>
        </p:txBody>
      </p:sp>
      <p:sp>
        <p:nvSpPr>
          <p:cNvPr id="5" name="Paise-exact GST card"/>
          <p:cNvSpPr/>
          <p:nvPr/>
        </p:nvSpPr>
        <p:spPr>
          <a:xfrm>
            <a:off x="457200" y="3703320"/>
            <a:ext cx="1581912" cy="868680"/>
          </a:xfrm>
          <a:prstGeom prst="roundRect">
            <a:avLst>
              <a:gd name="adj" fmla="val 12632"/>
            </a:avLst>
          </a:prstGeom>
          <a:solidFill>
            <a:schemeClr val="bg2"/>
          </a:solidFill>
          <a:ln w="6350">
            <a:solidFill>
              <a:schemeClr val="bg2"/>
            </a:solidFill>
            <a:prstDash val="solid"/>
          </a:ln>
        </p:spPr>
      </p:sp>
      <p:sp>
        <p:nvSpPr>
          <p:cNvPr id="6" name="Paise-exact GST text"/>
          <p:cNvSpPr txBox="1"/>
          <p:nvPr/>
        </p:nvSpPr>
        <p:spPr>
          <a:xfrm>
            <a:off x="566928" y="3767328"/>
            <a:ext cx="1389888" cy="749808"/>
          </a:xfrm>
          <a:prstGeom prst="rect">
            <a:avLst/>
          </a:prstGeom>
          <a:noFill/>
          <a:ln/>
        </p:spPr>
        <p:txBody>
          <a:bodyPr wrap="square" lIns="0" tIns="0" rIns="0" bIns="0" rtlCol="0" anchor="t"/>
          <a:lstStyle/>
          <a:p>
            <a:pPr indent="0" marL="0">
              <a:buNone/>
            </a:pPr>
            <a:r>
              <a:rPr lang="en-US" sz="1400" b="1" dirty="0">
                <a:solidFill>
                  <a:schemeClr val="accent1"/>
                </a:solidFill>
              </a:rPr>
              <a:t>Paise-exact GST</a:t>
            </a:r>
            <a:endParaRPr lang="en-US" sz="1400" dirty="0"/>
          </a:p>
          <a:p>
            <a:pPr indent="0" marL="0">
              <a:buNone/>
            </a:pPr>
            <a:r>
              <a:rPr lang="en-US" sz="1200" dirty="0">
                <a:solidFill>
                  <a:schemeClr val="tx2"/>
                </a:solidFill>
              </a:rPr>
              <a:t>Per-slab CGST + SGST with round-off</a:t>
            </a:r>
            <a:endParaRPr lang="en-US" sz="1400" dirty="0"/>
          </a:p>
        </p:txBody>
      </p:sp>
      <p:sp>
        <p:nvSpPr>
          <p:cNvPr id="7" name="Server pricing card"/>
          <p:cNvSpPr/>
          <p:nvPr/>
        </p:nvSpPr>
        <p:spPr>
          <a:xfrm>
            <a:off x="2157984" y="3703320"/>
            <a:ext cx="1581912" cy="868680"/>
          </a:xfrm>
          <a:prstGeom prst="roundRect">
            <a:avLst>
              <a:gd name="adj" fmla="val 12632"/>
            </a:avLst>
          </a:prstGeom>
          <a:solidFill>
            <a:schemeClr val="bg2"/>
          </a:solidFill>
          <a:ln w="6350">
            <a:solidFill>
              <a:schemeClr val="bg2"/>
            </a:solidFill>
            <a:prstDash val="solid"/>
          </a:ln>
        </p:spPr>
      </p:sp>
      <p:sp>
        <p:nvSpPr>
          <p:cNvPr id="8" name="Server pricing text"/>
          <p:cNvSpPr txBox="1"/>
          <p:nvPr/>
        </p:nvSpPr>
        <p:spPr>
          <a:xfrm>
            <a:off x="2267712" y="3767328"/>
            <a:ext cx="1389888" cy="749808"/>
          </a:xfrm>
          <a:prstGeom prst="rect">
            <a:avLst/>
          </a:prstGeom>
          <a:noFill/>
          <a:ln/>
        </p:spPr>
        <p:txBody>
          <a:bodyPr wrap="square" lIns="0" tIns="0" rIns="0" bIns="0" rtlCol="0" anchor="t"/>
          <a:lstStyle/>
          <a:p>
            <a:pPr indent="0" marL="0">
              <a:buNone/>
            </a:pPr>
            <a:r>
              <a:rPr lang="en-US" sz="1400" b="1" dirty="0">
                <a:solidFill>
                  <a:schemeClr val="accent1"/>
                </a:solidFill>
              </a:rPr>
              <a:t>Server pricing</a:t>
            </a:r>
            <a:endParaRPr lang="en-US" sz="1400" dirty="0"/>
          </a:p>
          <a:p>
            <a:pPr indent="0" marL="0">
              <a:buNone/>
            </a:pPr>
            <a:r>
              <a:rPr lang="en-US" sz="1200" dirty="0">
                <a:solidFill>
                  <a:schemeClr val="tx2"/>
                </a:solidFill>
              </a:rPr>
              <a:t>HMAC check on every payment</a:t>
            </a:r>
            <a:endParaRPr lang="en-US" sz="1400" dirty="0"/>
          </a:p>
        </p:txBody>
      </p:sp>
      <p:sp>
        <p:nvSpPr>
          <p:cNvPr id="9" name="Secure sign-in card"/>
          <p:cNvSpPr/>
          <p:nvPr/>
        </p:nvSpPr>
        <p:spPr>
          <a:xfrm>
            <a:off x="3858768" y="3703320"/>
            <a:ext cx="1581912" cy="868680"/>
          </a:xfrm>
          <a:prstGeom prst="roundRect">
            <a:avLst>
              <a:gd name="adj" fmla="val 12632"/>
            </a:avLst>
          </a:prstGeom>
          <a:solidFill>
            <a:schemeClr val="bg2"/>
          </a:solidFill>
          <a:ln w="6350">
            <a:solidFill>
              <a:schemeClr val="bg2"/>
            </a:solidFill>
            <a:prstDash val="solid"/>
          </a:ln>
        </p:spPr>
      </p:sp>
      <p:sp>
        <p:nvSpPr>
          <p:cNvPr id="10" name="Secure sign-in text"/>
          <p:cNvSpPr txBox="1"/>
          <p:nvPr/>
        </p:nvSpPr>
        <p:spPr>
          <a:xfrm>
            <a:off x="3968496" y="3767328"/>
            <a:ext cx="1389888" cy="749808"/>
          </a:xfrm>
          <a:prstGeom prst="rect">
            <a:avLst/>
          </a:prstGeom>
          <a:noFill/>
          <a:ln/>
        </p:spPr>
        <p:txBody>
          <a:bodyPr wrap="square" lIns="0" tIns="0" rIns="0" bIns="0" rtlCol="0" anchor="t"/>
          <a:lstStyle/>
          <a:p>
            <a:pPr indent="0" marL="0">
              <a:buNone/>
            </a:pPr>
            <a:r>
              <a:rPr lang="en-US" sz="1400" b="1" dirty="0">
                <a:solidFill>
                  <a:schemeClr val="accent1"/>
                </a:solidFill>
              </a:rPr>
              <a:t>Secure sign-in</a:t>
            </a:r>
            <a:endParaRPr lang="en-US" sz="1400" dirty="0"/>
          </a:p>
          <a:p>
            <a:pPr indent="0" marL="0">
              <a:buNone/>
            </a:pPr>
            <a:r>
              <a:rPr lang="en-US" sz="1200" dirty="0">
                <a:solidFill>
                  <a:schemeClr val="tx2"/>
                </a:solidFill>
              </a:rPr>
              <a:t>Signed tokens, scrypt passwords</a:t>
            </a:r>
            <a:endParaRPr lang="en-US" sz="1400" dirty="0"/>
          </a:p>
        </p:txBody>
      </p:sp>
      <p:sp>
        <p:nvSpPr>
          <p:cNvPr id="11" name="Stack header"/>
          <p:cNvSpPr txBox="1"/>
          <p:nvPr/>
        </p:nvSpPr>
        <p:spPr>
          <a:xfrm>
            <a:off x="5760720" y="1097280"/>
            <a:ext cx="2926080" cy="329184"/>
          </a:xfrm>
          <a:prstGeom prst="rect">
            <a:avLst/>
          </a:prstGeom>
          <a:noFill/>
          <a:ln/>
        </p:spPr>
        <p:txBody>
          <a:bodyPr wrap="square" lIns="0" tIns="0" rIns="0" bIns="0" rtlCol="0" anchor="ctr"/>
          <a:lstStyle/>
          <a:p>
            <a:pPr indent="0" marL="0">
              <a:buNone/>
            </a:pPr>
            <a:r>
              <a:rPr lang="en-US" sz="1600" b="1" dirty="0">
                <a:solidFill>
                  <a:schemeClr val="tx1"/>
                </a:solidFill>
              </a:rPr>
              <a:t>Tech stack</a:t>
            </a:r>
            <a:endParaRPr lang="en-US" sz="1600" dirty="0"/>
          </a:p>
        </p:txBody>
      </p:sp>
      <p:sp>
        <p:nvSpPr>
          <p:cNvPr id="12" name="Frontend tile"/>
          <p:cNvSpPr/>
          <p:nvPr/>
        </p:nvSpPr>
        <p:spPr>
          <a:xfrm>
            <a:off x="5760720" y="1572768"/>
            <a:ext cx="384048" cy="384048"/>
          </a:xfrm>
          <a:prstGeom prst="roundRect">
            <a:avLst>
              <a:gd name="adj" fmla="val 24000"/>
            </a:avLst>
          </a:prstGeom>
          <a:solidFill>
            <a:schemeClr val="accent1"/>
          </a:solidFill>
          <a:ln w="6350">
            <a:solidFill>
              <a:schemeClr val="accent1"/>
            </a:solidFill>
            <a:prstDash val="solid"/>
          </a:ln>
        </p:spPr>
      </p:sp>
      <p:pic>
        <p:nvPicPr>
          <p:cNvPr id="13" name="Frontend icon" descr="preencoded.png">    </p:cNvPr>
          <p:cNvPicPr>
            <a:picLocks noChangeAspect="1"/>
          </p:cNvPicPr>
          <p:nvPr/>
        </p:nvPicPr>
        <p:blipFill>
          <a:blip r:embed="rId2"/>
          <a:stretch>
            <a:fillRect/>
          </a:stretch>
        </p:blipFill>
        <p:spPr>
          <a:xfrm>
            <a:off x="5852892" y="1664940"/>
            <a:ext cx="199705" cy="199705"/>
          </a:xfrm>
          <a:prstGeom prst="rect">
            <a:avLst/>
          </a:prstGeom>
        </p:spPr>
      </p:pic>
      <p:sp>
        <p:nvSpPr>
          <p:cNvPr id="14" name="Frontend text"/>
          <p:cNvSpPr txBox="1"/>
          <p:nvPr/>
        </p:nvSpPr>
        <p:spPr>
          <a:xfrm>
            <a:off x="6272784" y="1554480"/>
            <a:ext cx="2414016" cy="457200"/>
          </a:xfrm>
          <a:prstGeom prst="rect">
            <a:avLst/>
          </a:prstGeom>
          <a:noFill/>
          <a:ln/>
        </p:spPr>
        <p:txBody>
          <a:bodyPr wrap="square" lIns="0" tIns="0" rIns="0" bIns="0" rtlCol="0" anchor="t"/>
          <a:lstStyle/>
          <a:p>
            <a:pPr indent="0" marL="0">
              <a:buNone/>
            </a:pPr>
            <a:r>
              <a:rPr lang="en-US" sz="1300" b="1" dirty="0">
                <a:solidFill>
                  <a:schemeClr val="tx1"/>
                </a:solidFill>
              </a:rPr>
              <a:t>Frontend</a:t>
            </a:r>
            <a:endParaRPr lang="en-US" sz="1300" dirty="0"/>
          </a:p>
          <a:p>
            <a:pPr indent="0" marL="0">
              <a:buNone/>
            </a:pPr>
            <a:r>
              <a:rPr lang="en-US" sz="1300" dirty="0">
                <a:solidFill>
                  <a:schemeClr val="accent5"/>
                </a:solidFill>
              </a:rPr>
              <a:t>React 19 · Vite 8 · Tailwind 4</a:t>
            </a:r>
            <a:endParaRPr lang="en-US" sz="1300" dirty="0"/>
          </a:p>
        </p:txBody>
      </p:sp>
      <p:sp>
        <p:nvSpPr>
          <p:cNvPr id="15" name="Backend tile"/>
          <p:cNvSpPr/>
          <p:nvPr/>
        </p:nvSpPr>
        <p:spPr>
          <a:xfrm>
            <a:off x="5760720" y="2075688"/>
            <a:ext cx="384048" cy="384048"/>
          </a:xfrm>
          <a:prstGeom prst="roundRect">
            <a:avLst>
              <a:gd name="adj" fmla="val 24000"/>
            </a:avLst>
          </a:prstGeom>
          <a:solidFill>
            <a:schemeClr val="accent1"/>
          </a:solidFill>
          <a:ln w="6350">
            <a:solidFill>
              <a:schemeClr val="accent1"/>
            </a:solidFill>
            <a:prstDash val="solid"/>
          </a:ln>
        </p:spPr>
      </p:sp>
      <p:pic>
        <p:nvPicPr>
          <p:cNvPr id="16" name="Backend icon" descr="preencoded.png">    </p:cNvPr>
          <p:cNvPicPr>
            <a:picLocks noChangeAspect="1"/>
          </p:cNvPicPr>
          <p:nvPr/>
        </p:nvPicPr>
        <p:blipFill>
          <a:blip r:embed="rId3"/>
          <a:stretch>
            <a:fillRect/>
          </a:stretch>
        </p:blipFill>
        <p:spPr>
          <a:xfrm>
            <a:off x="5852892" y="2167860"/>
            <a:ext cx="199705" cy="199705"/>
          </a:xfrm>
          <a:prstGeom prst="rect">
            <a:avLst/>
          </a:prstGeom>
        </p:spPr>
      </p:pic>
      <p:sp>
        <p:nvSpPr>
          <p:cNvPr id="17" name="Backend text"/>
          <p:cNvSpPr txBox="1"/>
          <p:nvPr/>
        </p:nvSpPr>
        <p:spPr>
          <a:xfrm>
            <a:off x="6272784" y="2057400"/>
            <a:ext cx="2414016" cy="457200"/>
          </a:xfrm>
          <a:prstGeom prst="rect">
            <a:avLst/>
          </a:prstGeom>
          <a:noFill/>
          <a:ln/>
        </p:spPr>
        <p:txBody>
          <a:bodyPr wrap="square" lIns="0" tIns="0" rIns="0" bIns="0" rtlCol="0" anchor="t"/>
          <a:lstStyle/>
          <a:p>
            <a:pPr indent="0" marL="0">
              <a:buNone/>
            </a:pPr>
            <a:r>
              <a:rPr lang="en-US" sz="1300" b="1" dirty="0">
                <a:solidFill>
                  <a:schemeClr val="tx1"/>
                </a:solidFill>
              </a:rPr>
              <a:t>Backend</a:t>
            </a:r>
            <a:endParaRPr lang="en-US" sz="1300" dirty="0"/>
          </a:p>
          <a:p>
            <a:pPr indent="0" marL="0">
              <a:buNone/>
            </a:pPr>
            <a:r>
              <a:rPr lang="en-US" sz="1300" dirty="0">
                <a:solidFill>
                  <a:schemeClr val="accent5"/>
                </a:solidFill>
              </a:rPr>
              <a:t>Node.js · Express 5</a:t>
            </a:r>
            <a:endParaRPr lang="en-US" sz="1300" dirty="0"/>
          </a:p>
        </p:txBody>
      </p:sp>
      <p:sp>
        <p:nvSpPr>
          <p:cNvPr id="18" name="Database tile"/>
          <p:cNvSpPr/>
          <p:nvPr/>
        </p:nvSpPr>
        <p:spPr>
          <a:xfrm>
            <a:off x="5760720" y="2578608"/>
            <a:ext cx="384048" cy="384048"/>
          </a:xfrm>
          <a:prstGeom prst="roundRect">
            <a:avLst>
              <a:gd name="adj" fmla="val 24000"/>
            </a:avLst>
          </a:prstGeom>
          <a:solidFill>
            <a:schemeClr val="accent2"/>
          </a:solidFill>
          <a:ln w="6350">
            <a:solidFill>
              <a:schemeClr val="accent2"/>
            </a:solidFill>
            <a:prstDash val="solid"/>
          </a:ln>
        </p:spPr>
      </p:sp>
      <p:pic>
        <p:nvPicPr>
          <p:cNvPr id="19" name="Database icon" descr="preencoded.png">    </p:cNvPr>
          <p:cNvPicPr>
            <a:picLocks noChangeAspect="1"/>
          </p:cNvPicPr>
          <p:nvPr/>
        </p:nvPicPr>
        <p:blipFill>
          <a:blip r:embed="rId4"/>
          <a:stretch>
            <a:fillRect/>
          </a:stretch>
        </p:blipFill>
        <p:spPr>
          <a:xfrm>
            <a:off x="5852892" y="2670780"/>
            <a:ext cx="199705" cy="199705"/>
          </a:xfrm>
          <a:prstGeom prst="rect">
            <a:avLst/>
          </a:prstGeom>
        </p:spPr>
      </p:pic>
      <p:sp>
        <p:nvSpPr>
          <p:cNvPr id="20" name="Database text"/>
          <p:cNvSpPr txBox="1"/>
          <p:nvPr/>
        </p:nvSpPr>
        <p:spPr>
          <a:xfrm>
            <a:off x="6272784" y="2560320"/>
            <a:ext cx="2414016" cy="457200"/>
          </a:xfrm>
          <a:prstGeom prst="rect">
            <a:avLst/>
          </a:prstGeom>
          <a:noFill/>
          <a:ln/>
        </p:spPr>
        <p:txBody>
          <a:bodyPr wrap="square" lIns="0" tIns="0" rIns="0" bIns="0" rtlCol="0" anchor="t"/>
          <a:lstStyle/>
          <a:p>
            <a:pPr indent="0" marL="0">
              <a:buNone/>
            </a:pPr>
            <a:r>
              <a:rPr lang="en-US" sz="1300" b="1" dirty="0">
                <a:solidFill>
                  <a:schemeClr val="tx1"/>
                </a:solidFill>
              </a:rPr>
              <a:t>Database</a:t>
            </a:r>
            <a:endParaRPr lang="en-US" sz="1300" dirty="0"/>
          </a:p>
          <a:p>
            <a:pPr indent="0" marL="0">
              <a:buNone/>
            </a:pPr>
            <a:r>
              <a:rPr lang="en-US" sz="1300" dirty="0">
                <a:solidFill>
                  <a:schemeClr val="accent5"/>
                </a:solidFill>
              </a:rPr>
              <a:t>SQLite (node:sqlite)</a:t>
            </a:r>
            <a:endParaRPr lang="en-US" sz="1300" dirty="0"/>
          </a:p>
        </p:txBody>
      </p:sp>
      <p:sp>
        <p:nvSpPr>
          <p:cNvPr id="21" name="Payments tile"/>
          <p:cNvSpPr/>
          <p:nvPr/>
        </p:nvSpPr>
        <p:spPr>
          <a:xfrm>
            <a:off x="5760720" y="3081528"/>
            <a:ext cx="384048" cy="384048"/>
          </a:xfrm>
          <a:prstGeom prst="roundRect">
            <a:avLst>
              <a:gd name="adj" fmla="val 24000"/>
            </a:avLst>
          </a:prstGeom>
          <a:solidFill>
            <a:schemeClr val="accent2"/>
          </a:solidFill>
          <a:ln w="6350">
            <a:solidFill>
              <a:schemeClr val="accent2"/>
            </a:solidFill>
            <a:prstDash val="solid"/>
          </a:ln>
        </p:spPr>
      </p:sp>
      <p:pic>
        <p:nvPicPr>
          <p:cNvPr id="22" name="Payments icon" descr="preencoded.png">    </p:cNvPr>
          <p:cNvPicPr>
            <a:picLocks noChangeAspect="1"/>
          </p:cNvPicPr>
          <p:nvPr/>
        </p:nvPicPr>
        <p:blipFill>
          <a:blip r:embed="rId5"/>
          <a:stretch>
            <a:fillRect/>
          </a:stretch>
        </p:blipFill>
        <p:spPr>
          <a:xfrm>
            <a:off x="5852892" y="3173700"/>
            <a:ext cx="199705" cy="199705"/>
          </a:xfrm>
          <a:prstGeom prst="rect">
            <a:avLst/>
          </a:prstGeom>
        </p:spPr>
      </p:pic>
      <p:sp>
        <p:nvSpPr>
          <p:cNvPr id="23" name="Payments text"/>
          <p:cNvSpPr txBox="1"/>
          <p:nvPr/>
        </p:nvSpPr>
        <p:spPr>
          <a:xfrm>
            <a:off x="6272784" y="3063240"/>
            <a:ext cx="2414016" cy="457200"/>
          </a:xfrm>
          <a:prstGeom prst="rect">
            <a:avLst/>
          </a:prstGeom>
          <a:noFill/>
          <a:ln/>
        </p:spPr>
        <p:txBody>
          <a:bodyPr wrap="square" lIns="0" tIns="0" rIns="0" bIns="0" rtlCol="0" anchor="t"/>
          <a:lstStyle/>
          <a:p>
            <a:pPr indent="0" marL="0">
              <a:buNone/>
            </a:pPr>
            <a:r>
              <a:rPr lang="en-US" sz="1300" b="1" dirty="0">
                <a:solidFill>
                  <a:schemeClr val="tx1"/>
                </a:solidFill>
              </a:rPr>
              <a:t>Payments</a:t>
            </a:r>
            <a:endParaRPr lang="en-US" sz="1300" dirty="0"/>
          </a:p>
          <a:p>
            <a:pPr indent="0" marL="0">
              <a:buNone/>
            </a:pPr>
            <a:r>
              <a:rPr lang="en-US" sz="1300" dirty="0">
                <a:solidFill>
                  <a:schemeClr val="accent5"/>
                </a:solidFill>
              </a:rPr>
              <a:t>Razorpay UPI and cards</a:t>
            </a:r>
            <a:endParaRPr lang="en-US" sz="1300" dirty="0"/>
          </a:p>
        </p:txBody>
      </p:sp>
      <p:sp>
        <p:nvSpPr>
          <p:cNvPr id="24" name="Scanning tile"/>
          <p:cNvSpPr/>
          <p:nvPr/>
        </p:nvSpPr>
        <p:spPr>
          <a:xfrm>
            <a:off x="5760720" y="3584448"/>
            <a:ext cx="384048" cy="384048"/>
          </a:xfrm>
          <a:prstGeom prst="roundRect">
            <a:avLst>
              <a:gd name="adj" fmla="val 24000"/>
            </a:avLst>
          </a:prstGeom>
          <a:solidFill>
            <a:schemeClr val="accent3"/>
          </a:solidFill>
          <a:ln w="6350">
            <a:solidFill>
              <a:schemeClr val="accent3"/>
            </a:solidFill>
            <a:prstDash val="solid"/>
          </a:ln>
        </p:spPr>
      </p:sp>
      <p:pic>
        <p:nvPicPr>
          <p:cNvPr id="25" name="Scanning icon" descr="preencoded.png">    </p:cNvPr>
          <p:cNvPicPr>
            <a:picLocks noChangeAspect="1"/>
          </p:cNvPicPr>
          <p:nvPr/>
        </p:nvPicPr>
        <p:blipFill>
          <a:blip r:embed="rId6"/>
          <a:stretch>
            <a:fillRect/>
          </a:stretch>
        </p:blipFill>
        <p:spPr>
          <a:xfrm>
            <a:off x="5852892" y="3676620"/>
            <a:ext cx="199705" cy="199705"/>
          </a:xfrm>
          <a:prstGeom prst="rect">
            <a:avLst/>
          </a:prstGeom>
        </p:spPr>
      </p:pic>
      <p:sp>
        <p:nvSpPr>
          <p:cNvPr id="26" name="Scanning text"/>
          <p:cNvSpPr txBox="1"/>
          <p:nvPr/>
        </p:nvSpPr>
        <p:spPr>
          <a:xfrm>
            <a:off x="6272784" y="3566160"/>
            <a:ext cx="2414016" cy="457200"/>
          </a:xfrm>
          <a:prstGeom prst="rect">
            <a:avLst/>
          </a:prstGeom>
          <a:noFill/>
          <a:ln/>
        </p:spPr>
        <p:txBody>
          <a:bodyPr wrap="square" lIns="0" tIns="0" rIns="0" bIns="0" rtlCol="0" anchor="t"/>
          <a:lstStyle/>
          <a:p>
            <a:pPr indent="0" marL="0">
              <a:buNone/>
            </a:pPr>
            <a:r>
              <a:rPr lang="en-US" sz="1300" b="1" dirty="0">
                <a:solidFill>
                  <a:schemeClr val="tx1"/>
                </a:solidFill>
              </a:rPr>
              <a:t>Scanning</a:t>
            </a:r>
            <a:endParaRPr lang="en-US" sz="1300" dirty="0"/>
          </a:p>
          <a:p>
            <a:pPr indent="0" marL="0">
              <a:buNone/>
            </a:pPr>
            <a:r>
              <a:rPr lang="en-US" sz="1300" dirty="0">
                <a:solidFill>
                  <a:schemeClr val="accent5"/>
                </a:solidFill>
              </a:rPr>
              <a:t>ZXing-C++ WebAssembly</a:t>
            </a:r>
            <a:endParaRPr lang="en-US" sz="1300" dirty="0"/>
          </a:p>
        </p:txBody>
      </p:sp>
      <p:sp>
        <p:nvSpPr>
          <p:cNvPr id="27" name="Testing tile"/>
          <p:cNvSpPr/>
          <p:nvPr/>
        </p:nvSpPr>
        <p:spPr>
          <a:xfrm>
            <a:off x="5760720" y="4087368"/>
            <a:ext cx="384048" cy="384048"/>
          </a:xfrm>
          <a:prstGeom prst="roundRect">
            <a:avLst>
              <a:gd name="adj" fmla="val 24000"/>
            </a:avLst>
          </a:prstGeom>
          <a:solidFill>
            <a:schemeClr val="accent3"/>
          </a:solidFill>
          <a:ln w="6350">
            <a:solidFill>
              <a:schemeClr val="accent3"/>
            </a:solidFill>
            <a:prstDash val="solid"/>
          </a:ln>
        </p:spPr>
      </p:sp>
      <p:pic>
        <p:nvPicPr>
          <p:cNvPr id="28" name="Testing icon" descr="preencoded.png">    </p:cNvPr>
          <p:cNvPicPr>
            <a:picLocks noChangeAspect="1"/>
          </p:cNvPicPr>
          <p:nvPr/>
        </p:nvPicPr>
        <p:blipFill>
          <a:blip r:embed="rId7"/>
          <a:stretch>
            <a:fillRect/>
          </a:stretch>
        </p:blipFill>
        <p:spPr>
          <a:xfrm>
            <a:off x="5852892" y="4179540"/>
            <a:ext cx="199705" cy="199705"/>
          </a:xfrm>
          <a:prstGeom prst="rect">
            <a:avLst/>
          </a:prstGeom>
        </p:spPr>
      </p:pic>
      <p:sp>
        <p:nvSpPr>
          <p:cNvPr id="29" name="Testing text"/>
          <p:cNvSpPr txBox="1"/>
          <p:nvPr/>
        </p:nvSpPr>
        <p:spPr>
          <a:xfrm>
            <a:off x="6272784" y="4069080"/>
            <a:ext cx="2414016" cy="457200"/>
          </a:xfrm>
          <a:prstGeom prst="rect">
            <a:avLst/>
          </a:prstGeom>
          <a:noFill/>
          <a:ln/>
        </p:spPr>
        <p:txBody>
          <a:bodyPr wrap="square" lIns="0" tIns="0" rIns="0" bIns="0" rtlCol="0" anchor="t"/>
          <a:lstStyle/>
          <a:p>
            <a:pPr indent="0" marL="0">
              <a:buNone/>
            </a:pPr>
            <a:r>
              <a:rPr lang="en-US" sz="1300" b="1" dirty="0">
                <a:solidFill>
                  <a:schemeClr val="tx1"/>
                </a:solidFill>
              </a:rPr>
              <a:t>Testing</a:t>
            </a:r>
            <a:endParaRPr lang="en-US" sz="1300" dirty="0"/>
          </a:p>
          <a:p>
            <a:pPr indent="0" marL="0">
              <a:buNone/>
            </a:pPr>
            <a:r>
              <a:rPr lang="en-US" sz="1300" dirty="0">
                <a:solidFill>
                  <a:schemeClr val="accent5"/>
                </a:solidFill>
              </a:rPr>
              <a:t>node:test · 17 API tests</a:t>
            </a:r>
            <a:endParaRPr lang="en-US" sz="13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58368"/>
          </a:xfrm>
          <a:prstGeom prst="rect">
            <a:avLst/>
          </a:prstGeom>
          <a:noFill/>
          <a:ln/>
        </p:spPr>
        <p:txBody>
          <a:bodyPr wrap="square" lIns="0" tIns="0" rIns="0" bIns="0" rtlCol="0" anchor="ctr"/>
          <a:lstStyle/>
          <a:p>
            <a:pPr algn="l" indent="0" marL="0">
              <a:buNone/>
            </a:pPr>
            <a:r>
              <a:rPr lang="en-US" sz="3600" b="1" dirty="0">
                <a:solidFill>
                  <a:schemeClr val="tx1"/>
                </a:solidFill>
              </a:rPr>
              <a:t>Design and delivery</a:t>
            </a:r>
            <a:endParaRPr lang="en-US" sz="3600" dirty="0"/>
          </a:p>
        </p:txBody>
      </p:sp>
      <p:sp>
        <p:nvSpPr>
          <p:cNvPr id="3" name="Use case card"/>
          <p:cNvSpPr/>
          <p:nvPr/>
        </p:nvSpPr>
        <p:spPr>
          <a:xfrm>
            <a:off x="457200" y="1097280"/>
            <a:ext cx="2377440" cy="1645920"/>
          </a:xfrm>
          <a:prstGeom prst="roundRect">
            <a:avLst>
              <a:gd name="adj" fmla="val 6667"/>
            </a:avLst>
          </a:prstGeom>
          <a:solidFill>
            <a:schemeClr val="bg2"/>
          </a:solidFill>
          <a:ln w="6350">
            <a:solidFill>
              <a:schemeClr val="bg2"/>
            </a:solidFill>
            <a:prstDash val="solid"/>
          </a:ln>
        </p:spPr>
      </p:sp>
      <p:pic>
        <p:nvPicPr>
          <p:cNvPr id="4" name="Use case diagram" descr="Use case diagram">    </p:cNvPr>
          <p:cNvPicPr>
            <a:picLocks noChangeAspect="1"/>
          </p:cNvPicPr>
          <p:nvPr/>
        </p:nvPicPr>
        <p:blipFill>
          <a:blip r:embed="rId1"/>
          <a:stretch>
            <a:fillRect/>
          </a:stretch>
        </p:blipFill>
        <p:spPr>
          <a:xfrm>
            <a:off x="914185" y="1170432"/>
            <a:ext cx="1463469" cy="1243584"/>
          </a:xfrm>
          <a:prstGeom prst="rect">
            <a:avLst/>
          </a:prstGeom>
        </p:spPr>
      </p:pic>
      <p:sp>
        <p:nvSpPr>
          <p:cNvPr id="5" name="Use case label"/>
          <p:cNvSpPr txBox="1"/>
          <p:nvPr/>
        </p:nvSpPr>
        <p:spPr>
          <a:xfrm>
            <a:off x="548640" y="2450592"/>
            <a:ext cx="2194560" cy="237744"/>
          </a:xfrm>
          <a:prstGeom prst="rect">
            <a:avLst/>
          </a:prstGeom>
          <a:noFill/>
          <a:ln/>
        </p:spPr>
        <p:txBody>
          <a:bodyPr wrap="square" lIns="0" tIns="0" rIns="0" bIns="0" rtlCol="0" anchor="ctr"/>
          <a:lstStyle/>
          <a:p>
            <a:pPr algn="ctr" indent="0" marL="0">
              <a:buNone/>
            </a:pPr>
            <a:r>
              <a:rPr lang="en-US" sz="1200" b="1" dirty="0">
                <a:solidFill>
                  <a:schemeClr val="tx1"/>
                </a:solidFill>
              </a:rPr>
              <a:t>Use case</a:t>
            </a:r>
            <a:endParaRPr lang="en-US" sz="1200" dirty="0"/>
          </a:p>
        </p:txBody>
      </p:sp>
      <p:sp>
        <p:nvSpPr>
          <p:cNvPr id="6" name="Sequence (Razorpay) card"/>
          <p:cNvSpPr/>
          <p:nvPr/>
        </p:nvSpPr>
        <p:spPr>
          <a:xfrm>
            <a:off x="2971800" y="1097280"/>
            <a:ext cx="2377440" cy="1645920"/>
          </a:xfrm>
          <a:prstGeom prst="roundRect">
            <a:avLst>
              <a:gd name="adj" fmla="val 6667"/>
            </a:avLst>
          </a:prstGeom>
          <a:solidFill>
            <a:schemeClr val="bg2"/>
          </a:solidFill>
          <a:ln w="6350">
            <a:solidFill>
              <a:schemeClr val="bg2"/>
            </a:solidFill>
            <a:prstDash val="solid"/>
          </a:ln>
        </p:spPr>
      </p:sp>
      <p:pic>
        <p:nvPicPr>
          <p:cNvPr id="7" name="Sequence (Razorpay) diagram" descr="Sequence (Razorpay) diagram">    </p:cNvPr>
          <p:cNvPicPr>
            <a:picLocks noChangeAspect="1"/>
          </p:cNvPicPr>
          <p:nvPr/>
        </p:nvPicPr>
        <p:blipFill>
          <a:blip r:embed="rId2"/>
          <a:stretch>
            <a:fillRect/>
          </a:stretch>
        </p:blipFill>
        <p:spPr>
          <a:xfrm>
            <a:off x="3591792" y="1170432"/>
            <a:ext cx="1137456" cy="1243584"/>
          </a:xfrm>
          <a:prstGeom prst="rect">
            <a:avLst/>
          </a:prstGeom>
        </p:spPr>
      </p:pic>
      <p:sp>
        <p:nvSpPr>
          <p:cNvPr id="8" name="Sequence (Razorpay) label"/>
          <p:cNvSpPr txBox="1"/>
          <p:nvPr/>
        </p:nvSpPr>
        <p:spPr>
          <a:xfrm>
            <a:off x="3063240" y="2450592"/>
            <a:ext cx="2194560" cy="237744"/>
          </a:xfrm>
          <a:prstGeom prst="rect">
            <a:avLst/>
          </a:prstGeom>
          <a:noFill/>
          <a:ln/>
        </p:spPr>
        <p:txBody>
          <a:bodyPr wrap="square" lIns="0" tIns="0" rIns="0" bIns="0" rtlCol="0" anchor="ctr"/>
          <a:lstStyle/>
          <a:p>
            <a:pPr algn="ctr" indent="0" marL="0">
              <a:buNone/>
            </a:pPr>
            <a:r>
              <a:rPr lang="en-US" sz="1200" b="1" dirty="0">
                <a:solidFill>
                  <a:schemeClr val="tx1"/>
                </a:solidFill>
              </a:rPr>
              <a:t>Sequence (Razorpay)</a:t>
            </a:r>
            <a:endParaRPr lang="en-US" sz="1200" dirty="0"/>
          </a:p>
        </p:txBody>
      </p:sp>
      <p:sp>
        <p:nvSpPr>
          <p:cNvPr id="9" name="Activity (checkout) card"/>
          <p:cNvSpPr/>
          <p:nvPr/>
        </p:nvSpPr>
        <p:spPr>
          <a:xfrm>
            <a:off x="457200" y="2852928"/>
            <a:ext cx="2377440" cy="1645920"/>
          </a:xfrm>
          <a:prstGeom prst="roundRect">
            <a:avLst>
              <a:gd name="adj" fmla="val 6667"/>
            </a:avLst>
          </a:prstGeom>
          <a:solidFill>
            <a:schemeClr val="bg2"/>
          </a:solidFill>
          <a:ln w="6350">
            <a:solidFill>
              <a:schemeClr val="bg2"/>
            </a:solidFill>
            <a:prstDash val="solid"/>
          </a:ln>
        </p:spPr>
      </p:sp>
      <p:pic>
        <p:nvPicPr>
          <p:cNvPr id="10" name="Activity (checkout) diagram" descr="Activity (checkout) diagram">    </p:cNvPr>
          <p:cNvPicPr>
            <a:picLocks noChangeAspect="1"/>
          </p:cNvPicPr>
          <p:nvPr/>
        </p:nvPicPr>
        <p:blipFill>
          <a:blip r:embed="rId3"/>
          <a:stretch>
            <a:fillRect/>
          </a:stretch>
        </p:blipFill>
        <p:spPr>
          <a:xfrm>
            <a:off x="1146453" y="2926080"/>
            <a:ext cx="998934" cy="1243584"/>
          </a:xfrm>
          <a:prstGeom prst="rect">
            <a:avLst/>
          </a:prstGeom>
        </p:spPr>
      </p:pic>
      <p:sp>
        <p:nvSpPr>
          <p:cNvPr id="11" name="Activity (checkout) label"/>
          <p:cNvSpPr txBox="1"/>
          <p:nvPr/>
        </p:nvSpPr>
        <p:spPr>
          <a:xfrm>
            <a:off x="548640" y="4206240"/>
            <a:ext cx="2194560" cy="237744"/>
          </a:xfrm>
          <a:prstGeom prst="rect">
            <a:avLst/>
          </a:prstGeom>
          <a:noFill/>
          <a:ln/>
        </p:spPr>
        <p:txBody>
          <a:bodyPr wrap="square" lIns="0" tIns="0" rIns="0" bIns="0" rtlCol="0" anchor="ctr"/>
          <a:lstStyle/>
          <a:p>
            <a:pPr algn="ctr" indent="0" marL="0">
              <a:buNone/>
            </a:pPr>
            <a:r>
              <a:rPr lang="en-US" sz="1200" b="1" dirty="0">
                <a:solidFill>
                  <a:schemeClr val="tx1"/>
                </a:solidFill>
              </a:rPr>
              <a:t>Activity (checkout)</a:t>
            </a:r>
            <a:endParaRPr lang="en-US" sz="1200" dirty="0"/>
          </a:p>
        </p:txBody>
      </p:sp>
      <p:sp>
        <p:nvSpPr>
          <p:cNvPr id="12" name="Class (domain model) card"/>
          <p:cNvSpPr/>
          <p:nvPr/>
        </p:nvSpPr>
        <p:spPr>
          <a:xfrm>
            <a:off x="2971800" y="2852928"/>
            <a:ext cx="2377440" cy="1645920"/>
          </a:xfrm>
          <a:prstGeom prst="roundRect">
            <a:avLst>
              <a:gd name="adj" fmla="val 6667"/>
            </a:avLst>
          </a:prstGeom>
          <a:solidFill>
            <a:schemeClr val="bg2"/>
          </a:solidFill>
          <a:ln w="6350">
            <a:solidFill>
              <a:schemeClr val="bg2"/>
            </a:solidFill>
            <a:prstDash val="solid"/>
          </a:ln>
        </p:spPr>
      </p:sp>
      <p:pic>
        <p:nvPicPr>
          <p:cNvPr id="13" name="Class (domain model) diagram" descr="Class (domain model) diagram">    </p:cNvPr>
          <p:cNvPicPr>
            <a:picLocks noChangeAspect="1"/>
          </p:cNvPicPr>
          <p:nvPr/>
        </p:nvPicPr>
        <p:blipFill>
          <a:blip r:embed="rId4"/>
          <a:stretch>
            <a:fillRect/>
          </a:stretch>
        </p:blipFill>
        <p:spPr>
          <a:xfrm>
            <a:off x="3110609" y="2926080"/>
            <a:ext cx="2099822" cy="1243584"/>
          </a:xfrm>
          <a:prstGeom prst="rect">
            <a:avLst/>
          </a:prstGeom>
        </p:spPr>
      </p:pic>
      <p:sp>
        <p:nvSpPr>
          <p:cNvPr id="14" name="Class (domain model) label"/>
          <p:cNvSpPr txBox="1"/>
          <p:nvPr/>
        </p:nvSpPr>
        <p:spPr>
          <a:xfrm>
            <a:off x="3063240" y="4206240"/>
            <a:ext cx="2194560" cy="237744"/>
          </a:xfrm>
          <a:prstGeom prst="rect">
            <a:avLst/>
          </a:prstGeom>
          <a:noFill/>
          <a:ln/>
        </p:spPr>
        <p:txBody>
          <a:bodyPr wrap="square" lIns="0" tIns="0" rIns="0" bIns="0" rtlCol="0" anchor="ctr"/>
          <a:lstStyle/>
          <a:p>
            <a:pPr algn="ctr" indent="0" marL="0">
              <a:buNone/>
            </a:pPr>
            <a:r>
              <a:rPr lang="en-US" sz="1200" b="1" dirty="0">
                <a:solidFill>
                  <a:schemeClr val="tx1"/>
                </a:solidFill>
              </a:rPr>
              <a:t>Class (domain model)</a:t>
            </a:r>
            <a:endParaRPr lang="en-US" sz="1200" dirty="0"/>
          </a:p>
        </p:txBody>
      </p:sp>
      <p:sp>
        <p:nvSpPr>
          <p:cNvPr id="15" name="SDLC header"/>
          <p:cNvSpPr txBox="1"/>
          <p:nvPr/>
        </p:nvSpPr>
        <p:spPr>
          <a:xfrm>
            <a:off x="5669280" y="1097280"/>
            <a:ext cx="3017520" cy="566928"/>
          </a:xfrm>
          <a:prstGeom prst="rect">
            <a:avLst/>
          </a:prstGeom>
          <a:noFill/>
          <a:ln/>
        </p:spPr>
        <p:txBody>
          <a:bodyPr wrap="square" lIns="0" tIns="0" rIns="0" bIns="0" rtlCol="0" anchor="t"/>
          <a:lstStyle/>
          <a:p>
            <a:pPr indent="0" marL="0">
              <a:buNone/>
            </a:pPr>
            <a:r>
              <a:rPr lang="en-US" sz="1600" b="1" dirty="0">
                <a:solidFill>
                  <a:schemeClr val="tx1"/>
                </a:solidFill>
              </a:rPr>
              <a:t>Iterative &amp; incremental SDLC</a:t>
            </a:r>
            <a:endParaRPr lang="en-US" sz="1600" dirty="0"/>
          </a:p>
          <a:p>
            <a:pPr indent="0" marL="0">
              <a:buNone/>
            </a:pPr>
            <a:r>
              <a:rPr lang="en-US" sz="1200" dirty="0">
                <a:solidFill>
                  <a:schemeClr val="accent5"/>
                </a:solidFill>
              </a:rPr>
              <a:t>Plan, design, build, test, demo, review</a:t>
            </a:r>
            <a:endParaRPr lang="en-US" sz="1600" dirty="0"/>
          </a:p>
        </p:txBody>
      </p:sp>
      <p:sp>
        <p:nvSpPr>
          <p:cNvPr id="16" name="Timeline line"/>
          <p:cNvSpPr/>
          <p:nvPr/>
        </p:nvSpPr>
        <p:spPr>
          <a:xfrm>
            <a:off x="5870448" y="2194560"/>
            <a:ext cx="0" cy="1737360"/>
          </a:xfrm>
          <a:prstGeom prst="line">
            <a:avLst/>
          </a:prstGeom>
          <a:noFill/>
          <a:ln w="19050">
            <a:solidFill>
              <a:schemeClr val="accent5"/>
            </a:solidFill>
            <a:prstDash val="dash"/>
          </a:ln>
        </p:spPr>
      </p:sp>
      <p:sp>
        <p:nvSpPr>
          <p:cNvPr id="17" name="Iteration 1 circle"/>
          <p:cNvSpPr/>
          <p:nvPr/>
        </p:nvSpPr>
        <p:spPr>
          <a:xfrm>
            <a:off x="5669280" y="1874520"/>
            <a:ext cx="402336" cy="402336"/>
          </a:xfrm>
          <a:prstGeom prst="ellipse">
            <a:avLst/>
          </a:prstGeom>
          <a:solidFill>
            <a:schemeClr val="accent1"/>
          </a:solidFill>
          <a:ln w="6350">
            <a:solidFill>
              <a:schemeClr val="accent1"/>
            </a:solidFill>
            <a:prstDash val="solid"/>
          </a:ln>
        </p:spPr>
      </p:sp>
      <p:sp>
        <p:nvSpPr>
          <p:cNvPr id="18" name="Iteration 1 number"/>
          <p:cNvSpPr txBox="1"/>
          <p:nvPr/>
        </p:nvSpPr>
        <p:spPr>
          <a:xfrm>
            <a:off x="5669280" y="187452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9" name="Iteration 1 text"/>
          <p:cNvSpPr txBox="1"/>
          <p:nvPr/>
        </p:nvSpPr>
        <p:spPr>
          <a:xfrm>
            <a:off x="6217920" y="1856232"/>
            <a:ext cx="2468880" cy="786384"/>
          </a:xfrm>
          <a:prstGeom prst="rect">
            <a:avLst/>
          </a:prstGeom>
          <a:noFill/>
          <a:ln/>
        </p:spPr>
        <p:txBody>
          <a:bodyPr wrap="square" lIns="0" tIns="0" rIns="0" bIns="0" rtlCol="0" anchor="t"/>
          <a:lstStyle/>
          <a:p>
            <a:pPr indent="0" marL="0">
              <a:buNone/>
            </a:pPr>
            <a:r>
              <a:rPr lang="en-US" sz="1400" b="1" dirty="0">
                <a:solidFill>
                  <a:schemeClr val="tx1"/>
                </a:solidFill>
              </a:rPr>
              <a:t>Weeks 1–6 · MVP</a:t>
            </a:r>
            <a:endParaRPr lang="en-US" sz="1400" dirty="0"/>
          </a:p>
          <a:p>
            <a:pPr indent="0" marL="0">
              <a:buNone/>
            </a:pPr>
            <a:r>
              <a:rPr lang="en-US" sz="1300" dirty="0">
                <a:solidFill>
                  <a:schemeClr val="accent5"/>
                </a:solidFill>
              </a:rPr>
              <a:t>Unified bag, GST, Razorpay</a:t>
            </a:r>
            <a:endParaRPr lang="en-US" sz="1400" dirty="0"/>
          </a:p>
        </p:txBody>
      </p:sp>
      <p:sp>
        <p:nvSpPr>
          <p:cNvPr id="20" name="Iteration 2 circle"/>
          <p:cNvSpPr/>
          <p:nvPr/>
        </p:nvSpPr>
        <p:spPr>
          <a:xfrm>
            <a:off x="5669280" y="2770632"/>
            <a:ext cx="402336" cy="402336"/>
          </a:xfrm>
          <a:prstGeom prst="ellipse">
            <a:avLst/>
          </a:prstGeom>
          <a:solidFill>
            <a:schemeClr val="accent3"/>
          </a:solidFill>
          <a:ln w="6350">
            <a:solidFill>
              <a:schemeClr val="accent3"/>
            </a:solidFill>
            <a:prstDash val="solid"/>
          </a:ln>
        </p:spPr>
      </p:sp>
      <p:sp>
        <p:nvSpPr>
          <p:cNvPr id="21" name="Iteration 2 number"/>
          <p:cNvSpPr txBox="1"/>
          <p:nvPr/>
        </p:nvSpPr>
        <p:spPr>
          <a:xfrm>
            <a:off x="5669280" y="2770632"/>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2" name="Iteration 2 text"/>
          <p:cNvSpPr txBox="1"/>
          <p:nvPr/>
        </p:nvSpPr>
        <p:spPr>
          <a:xfrm>
            <a:off x="6217920" y="2752344"/>
            <a:ext cx="2468880" cy="786384"/>
          </a:xfrm>
          <a:prstGeom prst="rect">
            <a:avLst/>
          </a:prstGeom>
          <a:noFill/>
          <a:ln/>
        </p:spPr>
        <p:txBody>
          <a:bodyPr wrap="square" lIns="0" tIns="0" rIns="0" bIns="0" rtlCol="0" anchor="t"/>
          <a:lstStyle/>
          <a:p>
            <a:pPr indent="0" marL="0">
              <a:buNone/>
            </a:pPr>
            <a:r>
              <a:rPr lang="en-US" sz="1400" b="1" dirty="0">
                <a:solidFill>
                  <a:schemeClr val="tx1"/>
                </a:solidFill>
              </a:rPr>
              <a:t>Weeks 7–8 · Accounts &amp; data</a:t>
            </a:r>
            <a:endParaRPr lang="en-US" sz="1400" dirty="0"/>
          </a:p>
          <a:p>
            <a:pPr indent="0" marL="0">
              <a:buNone/>
            </a:pPr>
            <a:r>
              <a:rPr lang="en-US" sz="1300" dirty="0">
                <a:solidFill>
                  <a:schemeClr val="accent5"/>
                </a:solidFill>
              </a:rPr>
              <a:t>Sign-in, SQLite, cash desk</a:t>
            </a:r>
            <a:endParaRPr lang="en-US" sz="1400" dirty="0"/>
          </a:p>
        </p:txBody>
      </p:sp>
      <p:sp>
        <p:nvSpPr>
          <p:cNvPr id="23" name="Iteration 3 circle"/>
          <p:cNvSpPr/>
          <p:nvPr/>
        </p:nvSpPr>
        <p:spPr>
          <a:xfrm>
            <a:off x="5669280" y="3666744"/>
            <a:ext cx="402336" cy="402336"/>
          </a:xfrm>
          <a:prstGeom prst="ellipse">
            <a:avLst/>
          </a:prstGeom>
          <a:solidFill>
            <a:schemeClr val="accent2"/>
          </a:solidFill>
          <a:ln w="6350">
            <a:solidFill>
              <a:schemeClr val="accent2"/>
            </a:solidFill>
            <a:prstDash val="solid"/>
          </a:ln>
        </p:spPr>
      </p:sp>
      <p:sp>
        <p:nvSpPr>
          <p:cNvPr id="24" name="Iteration 3 number"/>
          <p:cNvSpPr txBox="1"/>
          <p:nvPr/>
        </p:nvSpPr>
        <p:spPr>
          <a:xfrm>
            <a:off x="5669280" y="366674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Iteration 3 text"/>
          <p:cNvSpPr txBox="1"/>
          <p:nvPr/>
        </p:nvSpPr>
        <p:spPr>
          <a:xfrm>
            <a:off x="6217920" y="3648456"/>
            <a:ext cx="2468880" cy="786384"/>
          </a:xfrm>
          <a:prstGeom prst="rect">
            <a:avLst/>
          </a:prstGeom>
          <a:noFill/>
          <a:ln/>
        </p:spPr>
        <p:txBody>
          <a:bodyPr wrap="square" lIns="0" tIns="0" rIns="0" bIns="0" rtlCol="0" anchor="t"/>
          <a:lstStyle/>
          <a:p>
            <a:pPr indent="0" marL="0">
              <a:buNone/>
            </a:pPr>
            <a:r>
              <a:rPr lang="en-US" sz="1400" b="1" dirty="0">
                <a:solidFill>
                  <a:schemeClr val="tx1"/>
                </a:solidFill>
              </a:rPr>
              <a:t>Weeks 9–10 · Real retail</a:t>
            </a:r>
            <a:endParaRPr lang="en-US" sz="1400" dirty="0"/>
          </a:p>
          <a:p>
            <a:pPr indent="0" marL="0">
              <a:buNone/>
            </a:pPr>
            <a:r>
              <a:rPr lang="en-US" sz="1300" dirty="0">
                <a:solidFill>
                  <a:schemeClr val="accent5"/>
                </a:solidFill>
              </a:rPr>
              <a:t>Barcode engine, real tags, MRP</a:t>
            </a:r>
            <a:endParaRPr lang="en-US" sz="14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58368"/>
          </a:xfrm>
          <a:prstGeom prst="rect">
            <a:avLst/>
          </a:prstGeom>
          <a:noFill/>
          <a:ln/>
        </p:spPr>
        <p:txBody>
          <a:bodyPr wrap="square" lIns="0" tIns="0" rIns="0" bIns="0" rtlCol="0" anchor="ctr"/>
          <a:lstStyle/>
          <a:p>
            <a:pPr algn="l" indent="0" marL="0">
              <a:buNone/>
            </a:pPr>
            <a:r>
              <a:rPr lang="en-US" sz="3600" b="1" dirty="0">
                <a:solidFill>
                  <a:schemeClr val="bg1"/>
                </a:solidFill>
              </a:rPr>
              <a:t>Results and what's next</a:t>
            </a:r>
            <a:endParaRPr lang="en-US" sz="3600" dirty="0"/>
          </a:p>
        </p:txBody>
      </p:sp>
      <p:sp>
        <p:nvSpPr>
          <p:cNvPr id="3" name="Stat 17/17"/>
          <p:cNvSpPr/>
          <p:nvPr/>
        </p:nvSpPr>
        <p:spPr>
          <a:xfrm>
            <a:off x="457200" y="1143000"/>
            <a:ext cx="1920240" cy="1371600"/>
          </a:xfrm>
          <a:prstGeom prst="roundRect">
            <a:avLst>
              <a:gd name="adj" fmla="val 8000"/>
            </a:avLst>
          </a:prstGeom>
          <a:solidFill>
            <a:schemeClr val="tx2"/>
          </a:solidFill>
          <a:ln w="6350">
            <a:solidFill>
              <a:schemeClr val="tx2"/>
            </a:solidFill>
            <a:prstDash val="solid"/>
          </a:ln>
        </p:spPr>
      </p:sp>
      <p:sp>
        <p:nvSpPr>
          <p:cNvPr id="4" name="Stat 17/17 text"/>
          <p:cNvSpPr txBox="1"/>
          <p:nvPr/>
        </p:nvSpPr>
        <p:spPr>
          <a:xfrm>
            <a:off x="640080" y="1280160"/>
            <a:ext cx="1600200" cy="1097280"/>
          </a:xfrm>
          <a:prstGeom prst="rect">
            <a:avLst/>
          </a:prstGeom>
          <a:noFill/>
          <a:ln/>
        </p:spPr>
        <p:txBody>
          <a:bodyPr wrap="square" lIns="0" tIns="0" rIns="0" bIns="0" rtlCol="0" anchor="ctr"/>
          <a:lstStyle/>
          <a:p>
            <a:pPr indent="0" marL="0">
              <a:buNone/>
            </a:pPr>
            <a:r>
              <a:rPr lang="en-US" sz="3400" b="1" dirty="0">
                <a:solidFill>
                  <a:schemeClr val="accent2"/>
                </a:solidFill>
              </a:rPr>
              <a:t>17/17</a:t>
            </a:r>
            <a:endParaRPr lang="en-US" sz="3400" dirty="0"/>
          </a:p>
          <a:p>
            <a:pPr indent="0" marL="0">
              <a:buNone/>
            </a:pPr>
            <a:r>
              <a:rPr lang="en-US" sz="1300" dirty="0">
                <a:solidFill>
                  <a:schemeClr val="bg2"/>
                </a:solidFill>
              </a:rPr>
              <a:t>API tests passing</a:t>
            </a:r>
            <a:endParaRPr lang="en-US" sz="3400" dirty="0"/>
          </a:p>
        </p:txBody>
      </p:sp>
      <p:sp>
        <p:nvSpPr>
          <p:cNvPr id="5" name="Stat ~1 ms"/>
          <p:cNvSpPr/>
          <p:nvPr/>
        </p:nvSpPr>
        <p:spPr>
          <a:xfrm>
            <a:off x="2514600" y="1143000"/>
            <a:ext cx="1920240" cy="1371600"/>
          </a:xfrm>
          <a:prstGeom prst="roundRect">
            <a:avLst>
              <a:gd name="adj" fmla="val 8000"/>
            </a:avLst>
          </a:prstGeom>
          <a:solidFill>
            <a:schemeClr val="tx2"/>
          </a:solidFill>
          <a:ln w="6350">
            <a:solidFill>
              <a:schemeClr val="tx2"/>
            </a:solidFill>
            <a:prstDash val="solid"/>
          </a:ln>
        </p:spPr>
      </p:sp>
      <p:sp>
        <p:nvSpPr>
          <p:cNvPr id="6" name="Stat ~1 ms text"/>
          <p:cNvSpPr txBox="1"/>
          <p:nvPr/>
        </p:nvSpPr>
        <p:spPr>
          <a:xfrm>
            <a:off x="2697480" y="1280160"/>
            <a:ext cx="1600200" cy="1097280"/>
          </a:xfrm>
          <a:prstGeom prst="rect">
            <a:avLst/>
          </a:prstGeom>
          <a:noFill/>
          <a:ln/>
        </p:spPr>
        <p:txBody>
          <a:bodyPr wrap="square" lIns="0" tIns="0" rIns="0" bIns="0" rtlCol="0" anchor="ctr"/>
          <a:lstStyle/>
          <a:p>
            <a:pPr indent="0" marL="0">
              <a:buNone/>
            </a:pPr>
            <a:r>
              <a:rPr lang="en-US" sz="3400" b="1" dirty="0">
                <a:solidFill>
                  <a:schemeClr val="accent2"/>
                </a:solidFill>
              </a:rPr>
              <a:t>~1 ms</a:t>
            </a:r>
            <a:endParaRPr lang="en-US" sz="3400" dirty="0"/>
          </a:p>
          <a:p>
            <a:pPr indent="0" marL="0">
              <a:buNone/>
            </a:pPr>
            <a:r>
              <a:rPr lang="en-US" sz="1300" dirty="0">
                <a:solidFill>
                  <a:schemeClr val="bg2"/>
                </a:solidFill>
              </a:rPr>
              <a:t>API response (p95)</a:t>
            </a:r>
            <a:endParaRPr lang="en-US" sz="3400" dirty="0"/>
          </a:p>
        </p:txBody>
      </p:sp>
      <p:sp>
        <p:nvSpPr>
          <p:cNvPr id="7" name="Stat ~30 ms"/>
          <p:cNvSpPr/>
          <p:nvPr/>
        </p:nvSpPr>
        <p:spPr>
          <a:xfrm>
            <a:off x="457200" y="2697480"/>
            <a:ext cx="1920240" cy="1371600"/>
          </a:xfrm>
          <a:prstGeom prst="roundRect">
            <a:avLst>
              <a:gd name="adj" fmla="val 8000"/>
            </a:avLst>
          </a:prstGeom>
          <a:solidFill>
            <a:schemeClr val="tx2"/>
          </a:solidFill>
          <a:ln w="6350">
            <a:solidFill>
              <a:schemeClr val="tx2"/>
            </a:solidFill>
            <a:prstDash val="solid"/>
          </a:ln>
        </p:spPr>
      </p:sp>
      <p:sp>
        <p:nvSpPr>
          <p:cNvPr id="8" name="Stat ~30 ms text"/>
          <p:cNvSpPr txBox="1"/>
          <p:nvPr/>
        </p:nvSpPr>
        <p:spPr>
          <a:xfrm>
            <a:off x="640080" y="2834640"/>
            <a:ext cx="1600200" cy="1097280"/>
          </a:xfrm>
          <a:prstGeom prst="rect">
            <a:avLst/>
          </a:prstGeom>
          <a:noFill/>
          <a:ln/>
        </p:spPr>
        <p:txBody>
          <a:bodyPr wrap="square" lIns="0" tIns="0" rIns="0" bIns="0" rtlCol="0" anchor="ctr"/>
          <a:lstStyle/>
          <a:p>
            <a:pPr indent="0" marL="0">
              <a:buNone/>
            </a:pPr>
            <a:r>
              <a:rPr lang="en-US" sz="3400" b="1" dirty="0">
                <a:solidFill>
                  <a:schemeClr val="accent2"/>
                </a:solidFill>
              </a:rPr>
              <a:t>~30 ms</a:t>
            </a:r>
            <a:endParaRPr lang="en-US" sz="3400" dirty="0"/>
          </a:p>
          <a:p>
            <a:pPr indent="0" marL="0">
              <a:buNone/>
            </a:pPr>
            <a:r>
              <a:rPr lang="en-US" sz="1300" dirty="0">
                <a:solidFill>
                  <a:schemeClr val="bg2"/>
                </a:solidFill>
              </a:rPr>
              <a:t>per barcode frame</a:t>
            </a:r>
            <a:endParaRPr lang="en-US" sz="3400" dirty="0"/>
          </a:p>
        </p:txBody>
      </p:sp>
      <p:sp>
        <p:nvSpPr>
          <p:cNvPr id="9" name="Stat 3/3"/>
          <p:cNvSpPr/>
          <p:nvPr/>
        </p:nvSpPr>
        <p:spPr>
          <a:xfrm>
            <a:off x="2514600" y="2697480"/>
            <a:ext cx="1920240" cy="1371600"/>
          </a:xfrm>
          <a:prstGeom prst="roundRect">
            <a:avLst>
              <a:gd name="adj" fmla="val 8000"/>
            </a:avLst>
          </a:prstGeom>
          <a:solidFill>
            <a:schemeClr val="tx2"/>
          </a:solidFill>
          <a:ln w="6350">
            <a:solidFill>
              <a:schemeClr val="tx2"/>
            </a:solidFill>
            <a:prstDash val="solid"/>
          </a:ln>
        </p:spPr>
      </p:sp>
      <p:sp>
        <p:nvSpPr>
          <p:cNvPr id="10" name="Stat 3/3 text"/>
          <p:cNvSpPr txBox="1"/>
          <p:nvPr/>
        </p:nvSpPr>
        <p:spPr>
          <a:xfrm>
            <a:off x="2697480" y="2834640"/>
            <a:ext cx="1600200" cy="1097280"/>
          </a:xfrm>
          <a:prstGeom prst="rect">
            <a:avLst/>
          </a:prstGeom>
          <a:noFill/>
          <a:ln/>
        </p:spPr>
        <p:txBody>
          <a:bodyPr wrap="square" lIns="0" tIns="0" rIns="0" bIns="0" rtlCol="0" anchor="ctr"/>
          <a:lstStyle/>
          <a:p>
            <a:pPr indent="0" marL="0">
              <a:buNone/>
            </a:pPr>
            <a:r>
              <a:rPr lang="en-US" sz="3400" b="1" dirty="0">
                <a:solidFill>
                  <a:schemeClr val="accent2"/>
                </a:solidFill>
              </a:rPr>
              <a:t>3/3</a:t>
            </a:r>
            <a:endParaRPr lang="en-US" sz="3400" dirty="0"/>
          </a:p>
          <a:p>
            <a:pPr indent="0" marL="0">
              <a:buNone/>
            </a:pPr>
            <a:r>
              <a:rPr lang="en-US" sz="1300" dirty="0">
                <a:solidFill>
                  <a:schemeClr val="bg2"/>
                </a:solidFill>
              </a:rPr>
              <a:t>real tags scanned</a:t>
            </a:r>
            <a:endParaRPr lang="en-US" sz="3400" dirty="0"/>
          </a:p>
        </p:txBody>
      </p:sp>
      <p:sp>
        <p:nvSpPr>
          <p:cNvPr id="11" name="Next header"/>
          <p:cNvSpPr txBox="1"/>
          <p:nvPr/>
        </p:nvSpPr>
        <p:spPr>
          <a:xfrm>
            <a:off x="4846320" y="1143000"/>
            <a:ext cx="3840480" cy="365760"/>
          </a:xfrm>
          <a:prstGeom prst="rect">
            <a:avLst/>
          </a:prstGeom>
          <a:noFill/>
          <a:ln/>
        </p:spPr>
        <p:txBody>
          <a:bodyPr wrap="square" lIns="0" tIns="0" rIns="0" bIns="0" rtlCol="0" anchor="ctr"/>
          <a:lstStyle/>
          <a:p>
            <a:pPr indent="0" marL="0">
              <a:buNone/>
            </a:pPr>
            <a:r>
              <a:rPr lang="en-US" sz="1800" b="1" dirty="0">
                <a:solidFill>
                  <a:schemeClr val="bg1"/>
                </a:solidFill>
              </a:rPr>
              <a:t>What's next</a:t>
            </a:r>
            <a:endParaRPr lang="en-US" sz="1800" dirty="0"/>
          </a:p>
        </p:txBody>
      </p:sp>
      <p:sp>
        <p:nvSpPr>
          <p:cNvPr id="12" name="Inventory management tile"/>
          <p:cNvSpPr/>
          <p:nvPr/>
        </p:nvSpPr>
        <p:spPr>
          <a:xfrm>
            <a:off x="4846320" y="1664208"/>
            <a:ext cx="420624" cy="420624"/>
          </a:xfrm>
          <a:prstGeom prst="roundRect">
            <a:avLst>
              <a:gd name="adj" fmla="val 24000"/>
            </a:avLst>
          </a:prstGeom>
          <a:solidFill>
            <a:schemeClr val="accent1"/>
          </a:solidFill>
          <a:ln w="6350">
            <a:solidFill>
              <a:schemeClr val="accent1"/>
            </a:solidFill>
            <a:prstDash val="solid"/>
          </a:ln>
        </p:spPr>
      </p:sp>
      <p:pic>
        <p:nvPicPr>
          <p:cNvPr id="13" name="Inventory management icon" descr="preencoded.png">    </p:cNvPr>
          <p:cNvPicPr>
            <a:picLocks noChangeAspect="1"/>
          </p:cNvPicPr>
          <p:nvPr/>
        </p:nvPicPr>
        <p:blipFill>
          <a:blip r:embed="rId1"/>
          <a:stretch>
            <a:fillRect/>
          </a:stretch>
        </p:blipFill>
        <p:spPr>
          <a:xfrm>
            <a:off x="4947270" y="1765158"/>
            <a:ext cx="218724" cy="218724"/>
          </a:xfrm>
          <a:prstGeom prst="rect">
            <a:avLst/>
          </a:prstGeom>
        </p:spPr>
      </p:pic>
      <p:sp>
        <p:nvSpPr>
          <p:cNvPr id="14" name="Next 1"/>
          <p:cNvSpPr txBox="1"/>
          <p:nvPr/>
        </p:nvSpPr>
        <p:spPr>
          <a:xfrm>
            <a:off x="5413248" y="1645920"/>
            <a:ext cx="3273552" cy="566928"/>
          </a:xfrm>
          <a:prstGeom prst="rect">
            <a:avLst/>
          </a:prstGeom>
          <a:noFill/>
          <a:ln/>
        </p:spPr>
        <p:txBody>
          <a:bodyPr wrap="square" lIns="0" tIns="0" rIns="0" bIns="0" rtlCol="0" anchor="t"/>
          <a:lstStyle/>
          <a:p>
            <a:pPr indent="0" marL="0">
              <a:buNone/>
            </a:pPr>
            <a:r>
              <a:rPr lang="en-US" sz="1500" b="1" dirty="0">
                <a:solidFill>
                  <a:schemeClr val="bg1"/>
                </a:solidFill>
              </a:rPr>
              <a:t>Inventory management</a:t>
            </a:r>
            <a:endParaRPr lang="en-US" sz="1500" dirty="0"/>
          </a:p>
          <a:p>
            <a:pPr indent="0" marL="0">
              <a:buNone/>
            </a:pPr>
            <a:r>
              <a:rPr lang="en-US" sz="1300" dirty="0">
                <a:solidFill>
                  <a:schemeClr val="bg2"/>
                </a:solidFill>
              </a:rPr>
              <a:t>Stock in and out, low-stock alerts, admin panel</a:t>
            </a:r>
            <a:endParaRPr lang="en-US" sz="1500" dirty="0"/>
          </a:p>
        </p:txBody>
      </p:sp>
      <p:sp>
        <p:nvSpPr>
          <p:cNvPr id="15" name="Hardware smart cart tile"/>
          <p:cNvSpPr/>
          <p:nvPr/>
        </p:nvSpPr>
        <p:spPr>
          <a:xfrm>
            <a:off x="4846320" y="2322576"/>
            <a:ext cx="420624" cy="420624"/>
          </a:xfrm>
          <a:prstGeom prst="roundRect">
            <a:avLst>
              <a:gd name="adj" fmla="val 24000"/>
            </a:avLst>
          </a:prstGeom>
          <a:solidFill>
            <a:schemeClr val="accent2"/>
          </a:solidFill>
          <a:ln w="6350">
            <a:solidFill>
              <a:schemeClr val="accent2"/>
            </a:solidFill>
            <a:prstDash val="solid"/>
          </a:ln>
        </p:spPr>
      </p:sp>
      <p:pic>
        <p:nvPicPr>
          <p:cNvPr id="16" name="Hardware smart cart icon" descr="preencoded.png">    </p:cNvPr>
          <p:cNvPicPr>
            <a:picLocks noChangeAspect="1"/>
          </p:cNvPicPr>
          <p:nvPr/>
        </p:nvPicPr>
        <p:blipFill>
          <a:blip r:embed="rId2"/>
          <a:stretch>
            <a:fillRect/>
          </a:stretch>
        </p:blipFill>
        <p:spPr>
          <a:xfrm>
            <a:off x="4947270" y="2423526"/>
            <a:ext cx="218724" cy="218724"/>
          </a:xfrm>
          <a:prstGeom prst="rect">
            <a:avLst/>
          </a:prstGeom>
        </p:spPr>
      </p:pic>
      <p:sp>
        <p:nvSpPr>
          <p:cNvPr id="17" name="Next 2"/>
          <p:cNvSpPr txBox="1"/>
          <p:nvPr/>
        </p:nvSpPr>
        <p:spPr>
          <a:xfrm>
            <a:off x="5413248" y="2304288"/>
            <a:ext cx="3273552" cy="566928"/>
          </a:xfrm>
          <a:prstGeom prst="rect">
            <a:avLst/>
          </a:prstGeom>
          <a:noFill/>
          <a:ln/>
        </p:spPr>
        <p:txBody>
          <a:bodyPr wrap="square" lIns="0" tIns="0" rIns="0" bIns="0" rtlCol="0" anchor="t"/>
          <a:lstStyle/>
          <a:p>
            <a:pPr indent="0" marL="0">
              <a:buNone/>
            </a:pPr>
            <a:r>
              <a:rPr lang="en-US" sz="1500" b="1" dirty="0">
                <a:solidFill>
                  <a:schemeClr val="bg1"/>
                </a:solidFill>
              </a:rPr>
              <a:t>Hardware smart cart</a:t>
            </a:r>
            <a:endParaRPr lang="en-US" sz="1500" dirty="0"/>
          </a:p>
          <a:p>
            <a:pPr indent="0" marL="0">
              <a:buNone/>
            </a:pPr>
            <a:r>
              <a:rPr lang="en-US" sz="1300" dirty="0">
                <a:solidFill>
                  <a:schemeClr val="bg2"/>
                </a:solidFill>
              </a:rPr>
              <a:t>Mounted scanner, Raspberry Pi, weight check</a:t>
            </a:r>
            <a:endParaRPr lang="en-US" sz="1500" dirty="0"/>
          </a:p>
        </p:txBody>
      </p:sp>
      <p:sp>
        <p:nvSpPr>
          <p:cNvPr id="18" name="Safer sign-in and payments tile"/>
          <p:cNvSpPr/>
          <p:nvPr/>
        </p:nvSpPr>
        <p:spPr>
          <a:xfrm>
            <a:off x="4846320" y="2980944"/>
            <a:ext cx="420624" cy="420624"/>
          </a:xfrm>
          <a:prstGeom prst="roundRect">
            <a:avLst>
              <a:gd name="adj" fmla="val 24000"/>
            </a:avLst>
          </a:prstGeom>
          <a:solidFill>
            <a:schemeClr val="accent3"/>
          </a:solidFill>
          <a:ln w="6350">
            <a:solidFill>
              <a:schemeClr val="accent3"/>
            </a:solidFill>
            <a:prstDash val="solid"/>
          </a:ln>
        </p:spPr>
      </p:sp>
      <p:pic>
        <p:nvPicPr>
          <p:cNvPr id="19" name="Safer sign-in and payments icon" descr="preencoded.png">    </p:cNvPr>
          <p:cNvPicPr>
            <a:picLocks noChangeAspect="1"/>
          </p:cNvPicPr>
          <p:nvPr/>
        </p:nvPicPr>
        <p:blipFill>
          <a:blip r:embed="rId3"/>
          <a:stretch>
            <a:fillRect/>
          </a:stretch>
        </p:blipFill>
        <p:spPr>
          <a:xfrm>
            <a:off x="4947270" y="3081894"/>
            <a:ext cx="218724" cy="218724"/>
          </a:xfrm>
          <a:prstGeom prst="rect">
            <a:avLst/>
          </a:prstGeom>
        </p:spPr>
      </p:pic>
      <p:sp>
        <p:nvSpPr>
          <p:cNvPr id="20" name="Next 3"/>
          <p:cNvSpPr txBox="1"/>
          <p:nvPr/>
        </p:nvSpPr>
        <p:spPr>
          <a:xfrm>
            <a:off x="5413248" y="2962656"/>
            <a:ext cx="3273552" cy="566928"/>
          </a:xfrm>
          <a:prstGeom prst="rect">
            <a:avLst/>
          </a:prstGeom>
          <a:noFill/>
          <a:ln/>
        </p:spPr>
        <p:txBody>
          <a:bodyPr wrap="square" lIns="0" tIns="0" rIns="0" bIns="0" rtlCol="0" anchor="t"/>
          <a:lstStyle/>
          <a:p>
            <a:pPr indent="0" marL="0">
              <a:buNone/>
            </a:pPr>
            <a:r>
              <a:rPr lang="en-US" sz="1500" b="1" dirty="0">
                <a:solidFill>
                  <a:schemeClr val="bg1"/>
                </a:solidFill>
              </a:rPr>
              <a:t>Safer sign-in and payments</a:t>
            </a:r>
            <a:endParaRPr lang="en-US" sz="1500" dirty="0"/>
          </a:p>
          <a:p>
            <a:pPr indent="0" marL="0">
              <a:buNone/>
            </a:pPr>
            <a:r>
              <a:rPr lang="en-US" sz="1300" dirty="0">
                <a:solidFill>
                  <a:schemeClr val="bg2"/>
                </a:solidFill>
              </a:rPr>
              <a:t>SMS OTP, Razorpay webhooks, refunds</a:t>
            </a:r>
            <a:endParaRPr lang="en-US" sz="1500" dirty="0"/>
          </a:p>
        </p:txBody>
      </p:sp>
      <p:sp>
        <p:nvSpPr>
          <p:cNvPr id="21" name="Scale up tile"/>
          <p:cNvSpPr/>
          <p:nvPr/>
        </p:nvSpPr>
        <p:spPr>
          <a:xfrm>
            <a:off x="4846320" y="3639312"/>
            <a:ext cx="420624" cy="420624"/>
          </a:xfrm>
          <a:prstGeom prst="roundRect">
            <a:avLst>
              <a:gd name="adj" fmla="val 24000"/>
            </a:avLst>
          </a:prstGeom>
          <a:solidFill>
            <a:schemeClr val="accent6"/>
          </a:solidFill>
          <a:ln w="6350">
            <a:solidFill>
              <a:schemeClr val="accent6"/>
            </a:solidFill>
            <a:prstDash val="solid"/>
          </a:ln>
        </p:spPr>
      </p:sp>
      <p:pic>
        <p:nvPicPr>
          <p:cNvPr id="22" name="Scale up icon" descr="preencoded.png">    </p:cNvPr>
          <p:cNvPicPr>
            <a:picLocks noChangeAspect="1"/>
          </p:cNvPicPr>
          <p:nvPr/>
        </p:nvPicPr>
        <p:blipFill>
          <a:blip r:embed="rId4"/>
          <a:stretch>
            <a:fillRect/>
          </a:stretch>
        </p:blipFill>
        <p:spPr>
          <a:xfrm>
            <a:off x="4947270" y="3740262"/>
            <a:ext cx="218724" cy="218724"/>
          </a:xfrm>
          <a:prstGeom prst="rect">
            <a:avLst/>
          </a:prstGeom>
        </p:spPr>
      </p:pic>
      <p:sp>
        <p:nvSpPr>
          <p:cNvPr id="23" name="Next 4"/>
          <p:cNvSpPr txBox="1"/>
          <p:nvPr/>
        </p:nvSpPr>
        <p:spPr>
          <a:xfrm>
            <a:off x="5413248" y="3621024"/>
            <a:ext cx="3273552" cy="566928"/>
          </a:xfrm>
          <a:prstGeom prst="rect">
            <a:avLst/>
          </a:prstGeom>
          <a:noFill/>
          <a:ln/>
        </p:spPr>
        <p:txBody>
          <a:bodyPr wrap="square" lIns="0" tIns="0" rIns="0" bIns="0" rtlCol="0" anchor="t"/>
          <a:lstStyle/>
          <a:p>
            <a:pPr indent="0" marL="0">
              <a:buNone/>
            </a:pPr>
            <a:r>
              <a:rPr lang="en-US" sz="1500" b="1" dirty="0">
                <a:solidFill>
                  <a:schemeClr val="bg1"/>
                </a:solidFill>
              </a:rPr>
              <a:t>Scale up</a:t>
            </a:r>
            <a:endParaRPr lang="en-US" sz="1500" dirty="0"/>
          </a:p>
          <a:p>
            <a:pPr indent="0" marL="0">
              <a:buNone/>
            </a:pPr>
            <a:r>
              <a:rPr lang="en-US" sz="1300" dirty="0">
                <a:solidFill>
                  <a:schemeClr val="bg2"/>
                </a:solidFill>
              </a:rPr>
              <a:t>PostgreSQL, cloud hosting, a mall-wing pilot</a:t>
            </a:r>
            <a:endParaRPr lang="en-US" sz="1500" dirty="0"/>
          </a:p>
        </p:txBody>
      </p:sp>
      <p:sp>
        <p:nvSpPr>
          <p:cNvPr id="24" name="Closing tagline"/>
          <p:cNvSpPr txBox="1"/>
          <p:nvPr/>
        </p:nvSpPr>
        <p:spPr>
          <a:xfrm>
            <a:off x="457200" y="4343400"/>
            <a:ext cx="5486400" cy="365760"/>
          </a:xfrm>
          <a:prstGeom prst="rect">
            <a:avLst/>
          </a:prstGeom>
          <a:noFill/>
          <a:ln/>
        </p:spPr>
        <p:txBody>
          <a:bodyPr wrap="square" lIns="0" tIns="0" rIns="0" bIns="0" rtlCol="0" anchor="ctr"/>
          <a:lstStyle/>
          <a:p>
            <a:pPr indent="0" marL="0">
              <a:buNone/>
            </a:pPr>
            <a:r>
              <a:rPr lang="en-US" sz="1800" b="1" i="1" dirty="0">
                <a:solidFill>
                  <a:schemeClr val="accent1"/>
                </a:solidFill>
              </a:rPr>
              <a:t>Shop more. Wait less. Pay once.</a:t>
            </a:r>
            <a:endParaRPr lang="en-US" sz="1800" dirty="0"/>
          </a:p>
        </p:txBody>
      </p:sp>
      <p:sp>
        <p:nvSpPr>
          <p:cNvPr id="25" name="Slide Number Placeholder 0"/>
          <p:cNvSpPr>
            <a:spLocks noGrp="1"/>
          </p:cNvSpPr>
          <p:nvPr>
            <p:ph type="sldNum" sz="quarter" idx="4294967295"/>
          </p:nvPr>
        </p:nvSpPr>
        <p:spPr>
          <a:xfrm>
            <a:off x="8229600" y="475488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FlashCart">
  <a:themeElements>
    <a:clrScheme name="FlashCart">
      <a:dk1>
        <a:srgbClr val="0B1220"/>
      </a:dk1>
      <a:lt1>
        <a:srgbClr val="FFFFFF"/>
      </a:lt1>
      <a:dk2>
        <a:srgbClr val="1E293B"/>
      </a:dk2>
      <a:lt2>
        <a:srgbClr val="F1F5F9"/>
      </a:lt2>
      <a:accent1>
        <a:srgbClr val="0066FF"/>
      </a:accent1>
      <a:accent2>
        <a:srgbClr val="10B981"/>
      </a:accent2>
      <a:accent3>
        <a:srgbClr val="F59E0B"/>
      </a:accent3>
      <a:accent4>
        <a:srgbClr val="E11D48"/>
      </a:accent4>
      <a:accent5>
        <a:srgbClr val="64748B"/>
      </a:accent5>
      <a:accent6>
        <a:srgbClr val="0EA5E9"/>
      </a:accent6>
      <a:hlink>
        <a:srgbClr val="0066FF"/>
      </a:hlink>
      <a:folHlink>
        <a:srgbClr val="6D28D9"/>
      </a:folHlink>
    </a:clrScheme>
    <a:fontScheme name="FlashCa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FlashCart: Smart Mall Billing &amp; Unified Checkout</dc:title>
  <dc:subject>UCS503 Software Engineering project presentation</dc:subject>
  <dc:creator>Pranay Nagpal, Suryansh Jain, Srijan Tanwar</dc:creator>
  <cp:lastModifiedBy>Pranay Nagpal, Suryansh Jain, Srijan Tanwar</cp:lastModifiedBy>
  <cp:revision>1</cp:revision>
  <dcterms:created xsi:type="dcterms:W3CDTF">2026-10-06T11:37:02Z</dcterms:created>
  <dcterms:modified xsi:type="dcterms:W3CDTF">2026-10-06T11:37:02Z</dcterms:modified>
</cp:coreProperties>
</file>